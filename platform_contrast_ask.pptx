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F4E79"/>
                </a:solidFill>
                <a:latin typeface="Calibri"/>
              </a:rPr>
              <a:t>Contrasting discoveries against the Connect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463040" cy="5486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5606E"/>
                </a:solidFill>
                <a:latin typeface="Calibri"/>
              </a:rPr>
              <a:t>We need a picture of Connect's platform capabilities and common functionality, so we can tag each discovered item — capability, theme, epic, story — with whether it already exists on Connect, extends an existing feature, or is net-new. We don't expect a ready-made catalog; we'll assemble one from artifacts you already have. The mapping itself is then either provided or QC'd by your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4846320" cy="3950208"/>
          </a:xfrm>
          <a:prstGeom prst="roundRect">
            <a:avLst/>
          </a:prstGeom>
          <a:solidFill>
            <a:srgbClr val="E7EFF8"/>
          </a:solidFill>
          <a:ln w="12700">
            <a:solidFill>
              <a:srgbClr val="4A6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19072"/>
            <a:ext cx="448055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4A6EA0"/>
                </a:solidFill>
                <a:latin typeface="Calibri"/>
              </a:rPr>
              <a:t>Sources of platform capabilities — what you likely have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84832"/>
            <a:ext cx="448055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•  Confluence / architecture docs</a:t>
            </a:r>
            <a:r>
              <a:rPr sz="1000">
                <a:solidFill>
                  <a:srgbClr val="1F2D3D"/>
                </a:solidFill>
                <a:latin typeface="Calibri"/>
              </a:rPr>
              <a:t> — module / subsystem pages describing what each part of Connect does.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42032"/>
            <a:ext cx="4480559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•  Admin / configuration reference  ★</a:t>
            </a:r>
            <a:r>
              <a:rPr sz="1000">
                <a:solidFill>
                  <a:srgbClr val="1F2D3D"/>
                </a:solidFill>
                <a:latin typeface="Calibri"/>
              </a:rPr>
              <a:t> — every config knob, organised by module. Highest leverage — this is how we tell 'extension' from 'existing'.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4480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•  Release notes per Connect release</a:t>
            </a:r>
            <a:r>
              <a:rPr sz="1000">
                <a:solidFill>
                  <a:srgbClr val="1F2D3D"/>
                </a:solidFill>
                <a:latin typeface="Calibri"/>
              </a:rPr>
              <a:t> — features added, changed, deprecated. Time-ordered. Useful for status, introduced_in, deprecated_in.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4480559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•  API / integration documentation</a:t>
            </a:r>
            <a:r>
              <a:rPr sz="1000">
                <a:solidFill>
                  <a:srgbClr val="1F2D3D"/>
                </a:solidFill>
                <a:latin typeface="Calibri"/>
              </a:rPr>
              <a:t> — external-system contracts, message schemas.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95928"/>
            <a:ext cx="44805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•  Training / onboarding decks, sales collateral</a:t>
            </a:r>
            <a:r>
              <a:rPr sz="1000">
                <a:solidFill>
                  <a:srgbClr val="1F2D3D"/>
                </a:solidFill>
                <a:latin typeface="Calibri"/>
              </a:rPr>
              <a:t> — often the cleanest 'what does Connect do' summary, plus feature shortlists. Useful as a starting outline.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98848"/>
            <a:ext cx="4480559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4E79"/>
                </a:solidFill>
                <a:latin typeface="Calibri"/>
              </a:rPr>
              <a:t>•  Per-discipline Jira backlogs (Cyto, etc.)</a:t>
            </a:r>
            <a:r>
              <a:rPr sz="1000">
                <a:solidFill>
                  <a:srgbClr val="1F2D3D"/>
                </a:solidFill>
                <a:latin typeface="Calibri"/>
              </a:rPr>
              <a:t> — describes what was built for one discipline — not platform-wide capability. Use as cross-check only, not primary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22392" y="1627632"/>
            <a:ext cx="6309360" cy="2423160"/>
          </a:xfrm>
          <a:prstGeom prst="roundRect">
            <a:avLst/>
          </a:prstGeom>
          <a:solidFill>
            <a:srgbClr val="FAE9CB"/>
          </a:solidFill>
          <a:ln w="12700">
            <a:solidFill>
              <a:srgbClr val="C99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5272" y="1719072"/>
            <a:ext cx="5943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952C"/>
                </a:solidFill>
                <a:latin typeface="Calibri"/>
              </a:rPr>
              <a:t>Our 4-level categorisation — how we'd map your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5272" y="2048256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Each row below is a 'platform capability' or 'common functionality' we'll match against every discovered item.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241401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business capability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8392" y="2414016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9952C"/>
                </a:solidFill>
                <a:latin typeface="Calibri"/>
              </a:rP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2414016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module pages, sales collateral, training decks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276148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theme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276148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9952C"/>
                </a:solidFill>
                <a:latin typeface="Calibri"/>
              </a:rPr>
              <a:t>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761488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sub-module pages, data-model concepts, training decks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5272" y="31089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epic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31089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9952C"/>
                </a:solidFill>
                <a:latin typeface="Calibri"/>
              </a:rPr>
              <a:t>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310896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behavioural sections in docs, release notes, API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5272" y="34564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Calibri"/>
              </a:rPr>
              <a:t>configuration 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3456432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C9952C"/>
                </a:solidFill>
                <a:latin typeface="Calibri"/>
              </a:rPr>
              <a:t>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345643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admin / configuration reference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22392" y="4142231"/>
            <a:ext cx="6309360" cy="1417320"/>
          </a:xfrm>
          <a:prstGeom prst="roundRect">
            <a:avLst/>
          </a:prstGeom>
          <a:solidFill>
            <a:srgbClr val="EEE7F8"/>
          </a:solidFill>
          <a:ln w="12700">
            <a:solidFill>
              <a:srgbClr val="6E4F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5272" y="4233671"/>
            <a:ext cx="5943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6E4FA0"/>
                </a:solidFill>
                <a:latin typeface="Calibri"/>
              </a:rPr>
              <a:t>How we ratify the mapping — pick one 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5272" y="45811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6E4FA0"/>
                </a:solidFill>
                <a:latin typeface="Calibri"/>
              </a:rPr>
              <a:t>•  ① You provide the mapping</a:t>
            </a:r>
            <a:r>
              <a:rPr sz="1050">
                <a:solidFill>
                  <a:srgbClr val="1F2D3D"/>
                </a:solidFill>
                <a:latin typeface="Calibri"/>
              </a:rPr>
              <a:t> — your team annotates artifacts by level. Cleanest if you already maintain a structured feature catalog. Rare in practice.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5272" y="4983479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6E4FA0"/>
                </a:solidFill>
                <a:latin typeface="Calibri"/>
              </a:rPr>
              <a:t>•  ② You QC our draft  (expected default)</a:t>
            </a:r>
            <a:r>
              <a:rPr sz="1050">
                <a:solidFill>
                  <a:srgbClr val="1F2D3D"/>
                </a:solidFill>
                <a:latin typeface="Calibri"/>
              </a:rPr>
              <a:t> — we draft the mapping from your sources; you SME-review; 1–2 review cycles to ratify. Mapping accuracy signed off by your team.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669280"/>
            <a:ext cx="11274552" cy="841248"/>
          </a:xfrm>
          <a:prstGeom prst="roundRect">
            <a:avLst/>
          </a:prstGeom>
          <a:solidFill>
            <a:srgbClr val="DCE9D7"/>
          </a:solidFill>
          <a:ln w="12700">
            <a:solidFill>
              <a:srgbClr val="5C83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F2D3D"/>
                </a:solidFill>
                <a:latin typeface="Calibri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5C8347"/>
                </a:solidFill>
                <a:latin typeface="Calibri"/>
              </a:rPr>
              <a:t>What we deliver back, per discipline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35040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F2D3D"/>
                </a:solidFill>
                <a:latin typeface="Calibri"/>
              </a:rPr>
              <a:t>Platform Delta Report — every discovered capability / theme / epic / story tagged with platform_status ∈ {existing · extension · new · divergent}, with the matched platform item where applicable. Refreshed each Connect platform release.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565392"/>
            <a:ext cx="11274552" cy="10972"/>
          </a:xfrm>
          <a:prstGeom prst="rect">
            <a:avLst/>
          </a:prstGeom>
          <a:solidFill>
            <a:srgbClr val="D0D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01968"/>
            <a:ext cx="7772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1">
                <a:solidFill>
                  <a:srgbClr val="90979F"/>
                </a:solidFill>
                <a:latin typeface="Calibri"/>
              </a:rPr>
              <a:t>LIMS Story Generation — Client Alignment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17352" y="66019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90979F"/>
                </a:solidFill>
                <a:latin typeface="Calibri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