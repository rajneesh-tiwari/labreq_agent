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A discipline-agnostic system that turns SOPs into structured stories. Cold-start: business capabilities, themes, epics, personas, tests are all discovered from this discipline's SOPs.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108960" cy="137160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
— the corpus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691640"/>
            <a:ext cx="3108960" cy="1371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
3 agent classes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691640"/>
            <a:ext cx="3108960" cy="137160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2D3D"/>
                </a:solidFill>
                <a:latin typeface="Calibri"/>
              </a:rPr>
              <a:t>Story corpus
+ 5 catalogs (capability/theme/
  epic/persona/test)
+ audit log + review queue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37744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37744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3657600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416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One system, any 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70832"/>
            <a:ext cx="3657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Same machinery for any clinical-lab discipline — Microbiology, Histology, Hematology, Chemistry, etc.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Onboarding a new discipline = pointing the system at its SOPs. No engineering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0416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Cold-start 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4370832"/>
            <a:ext cx="3657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System discovers business capabilities, themes, epics, personas, tests from this discipline's SOPs alone — no curated catalogs up front.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Top-down cascade: capabilities first, then themes within each capability, then epics within each theme. Reviewable at every level.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041648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Non-blocking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370832"/>
            <a:ext cx="3657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3 agent classes: Catalog Builder, Story Extractor, Sampled Validator.</a:t>
            </a:r>
          </a:p>
          <a:p>
            <a:pPr algn="l">
              <a:spcAft>
                <a:spcPts val="300"/>
              </a:spcAft>
            </a:pPr>
            <a:r>
              <a:rPr sz="1100">
                <a:solidFill>
                  <a:srgbClr val="1F2D3D"/>
                </a:solidFill>
                <a:latin typeface="Calibri"/>
              </a:rPr>
              <a:t>•  Confidence at every boundary; every emission flows to corpus and is logged for human review post-hoc — pipeline never waits.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Inputs — just SOPs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Everything else — capabilities, themes, epics, personas, tests — is discovered cold from this discipline's SOPs.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From the discipline (per onboarding):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5486400" cy="9601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500" b="1" i="0">
                <a:solidFill>
                  <a:srgbClr val="1F2D3D"/>
                </a:solidFill>
                <a:latin typeface="Calibri"/>
              </a:rPr>
              <a:t>SOPs — the 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606E"/>
                </a:solidFill>
                <a:latin typeface="Calibri"/>
              </a:rPr>
              <a:t>Typically 30–150 SOPs.  No tagging, no structuring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1752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Universal defaults (not discipline-specific):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83280"/>
            <a:ext cx="5486400" cy="9601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F2D3D"/>
                </a:solidFill>
                <a:latin typeface="Calibri"/>
              </a:rPr>
              <a:t>Validator thresholds + 4-shape rubric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55606E"/>
                </a:solidFill>
                <a:latin typeface="Calibri"/>
              </a:rPr>
              <a:t>Tuned from telemetry on first run. No per-discipline calibration.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A84A4A"/>
                </a:solidFill>
                <a:latin typeface="Calibri"/>
              </a:rPr>
              <a:t>Notably absent (vs prior designs):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55606E"/>
                </a:solidFill>
                <a:latin typeface="Calibri"/>
              </a:rPr>
              <a:t>•  No prior-discipline catalogs (no warm-start).</a:t>
            </a:r>
          </a:p>
          <a:p>
            <a:pPr algn="l">
              <a:spcAft>
                <a:spcPts val="300"/>
              </a:spcAft>
            </a:pPr>
            <a:r>
              <a:rPr sz="1050">
                <a:solidFill>
                  <a:srgbClr val="55606E"/>
                </a:solidFill>
                <a:latin typeface="Calibri"/>
              </a:rPr>
              <a:t>•  No universal lab_stage_v1 artifact — workflow axis is the discovered business_capability_v1 catalog, per discipline.</a:t>
            </a:r>
          </a:p>
          <a:p>
            <a:pPr algn="l">
              <a:spcAft>
                <a:spcPts val="300"/>
              </a:spcAft>
            </a:pPr>
            <a:r>
              <a:rPr sz="1050">
                <a:solidFill>
                  <a:srgbClr val="55606E"/>
                </a:solidFill>
                <a:latin typeface="Calibri"/>
              </a:rPr>
              <a:t>•  No SME pre-curation of personas / tests — discovered from SOP mentions.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417320"/>
            <a:ext cx="5440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C8347"/>
                </a:solidFill>
                <a:latin typeface="Calibri"/>
              </a:rPr>
              <a:t>Discovered from the corpus (per discipline):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828800"/>
            <a:ext cx="5440680" cy="8412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1920240"/>
            <a:ext cx="51114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F4E79"/>
                </a:solidFill>
                <a:latin typeface="Calibri"/>
              </a:rPr>
              <a:t>business_capability_v1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1" y="2249424"/>
            <a:ext cx="5111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6–12 broad business outcomes the lab produces or maintains.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2761488"/>
            <a:ext cx="5440680" cy="8412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2852928"/>
            <a:ext cx="51114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F4E79"/>
                </a:solidFill>
                <a:latin typeface="Calibri"/>
              </a:rPr>
              <a:t>theme_v1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1" y="3182112"/>
            <a:ext cx="5111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12–20 subject areas, anchored under capabilities.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694176"/>
            <a:ext cx="5440680" cy="8412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1" y="3785615"/>
            <a:ext cx="51114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F4E79"/>
                </a:solidFill>
                <a:latin typeface="Calibri"/>
              </a:rPr>
              <a:t>epic_v1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1" y="4114800"/>
            <a:ext cx="5111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80–150 fine-grained, anchored under themes.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626864"/>
            <a:ext cx="5440680" cy="8412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1" y="4718304"/>
            <a:ext cx="51114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F4E79"/>
                </a:solidFill>
                <a:latin typeface="Calibri"/>
              </a:rPr>
              <a:t>persona_v1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1" y="5047488"/>
            <a:ext cx="5111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Actors named in SOPs (humans, systems, external systems).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559552"/>
            <a:ext cx="5440680" cy="84124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1" y="5650992"/>
            <a:ext cx="51114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1F4E79"/>
                </a:solidFill>
                <a:latin typeface="Calibri"/>
              </a:rPr>
              <a:t>test_v1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5980176"/>
            <a:ext cx="51114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Tests / assays named in SOPs.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End-to-end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Three phases. Phase 1 once (taxonomy cascade + entity extraction), Phase 2 in parallel across SOPs, Phase 3 deferred to the roadmap.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3657600" cy="411480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3383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E4FA0"/>
                </a:solidFill>
                <a:latin typeface="Calibri"/>
              </a:rPr>
              <a:t>Phase 1 — Catalog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20240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Once, on full corpus. Cold discovery.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304288"/>
            <a:ext cx="3200400" cy="347472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SOP Ingest &amp; Chunking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43200"/>
            <a:ext cx="3200400" cy="347472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Catalog Builder × 5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82112"/>
            <a:ext cx="2926080" cy="29260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Capability Discovery (top)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11296"/>
            <a:ext cx="2926080" cy="29260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Theme Discovery (under capabilities)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840480"/>
            <a:ext cx="2926080" cy="29260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Epic Discovery (under themes)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169664"/>
            <a:ext cx="2926080" cy="29260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Persona Discovery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98848"/>
            <a:ext cx="2926080" cy="292608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Test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102352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1">
                <a:solidFill>
                  <a:srgbClr val="5C8347"/>
                </a:solidFill>
                <a:latin typeface="Calibri"/>
              </a:rPr>
              <a:t>Output: 5 catalogs (capability/theme/epic/persona/test)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76672"/>
            <a:ext cx="3383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A84A4A"/>
                </a:solidFill>
                <a:latin typeface="Calibri"/>
              </a:rPr>
              <a:t>↳ low-confidence admits flagged for priority review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79392" y="1554480"/>
            <a:ext cx="3657600" cy="411480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1645920"/>
            <a:ext cx="3383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E4FA0"/>
                </a:solidFill>
                <a:latin typeface="Calibri"/>
              </a:rPr>
              <a:t>Phase 2 — Per-SOP Extraction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1920240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Parallel across SOPs. Tagging + extraction.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07992" y="2423160"/>
            <a:ext cx="320040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2D3D"/>
                </a:solidFill>
                <a:latin typeface="Calibri"/>
              </a:rPr>
              <a:t>For each SOP (in parallel):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07992" y="2926080"/>
            <a:ext cx="3200400" cy="50292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For each chunk (from Phase 1,
with tags already attached)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07992" y="3584448"/>
            <a:ext cx="3200400" cy="5943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
(generates 4-shape story +
self_check rubric)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6552" y="5102352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1">
                <a:solidFill>
                  <a:srgbClr val="5C8347"/>
                </a:solidFill>
                <a:latin typeface="Calibri"/>
              </a:rPr>
              <a:t>Output: story corpus (4 shapes) + audit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5376672"/>
            <a:ext cx="33832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A84A4A"/>
                </a:solidFill>
                <a:latin typeface="Calibri"/>
              </a:rPr>
              <a:t>↳ self_check FAIL or low-conf flagged for priority review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1583" y="1554480"/>
            <a:ext cx="3657600" cy="4114800"/>
          </a:xfrm>
          <a:prstGeom prst="roundRect">
            <a:avLst/>
          </a:prstGeom>
          <a:solidFill>
            <a:srgbClr val="F0ECF7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38744" y="1645920"/>
            <a:ext cx="3383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E4FA0"/>
                </a:solidFill>
                <a:latin typeface="Calibri"/>
              </a:rPr>
              <a:t>Phase 3 — Cross-SOP Synthesis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38744" y="1920240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1">
                <a:solidFill>
                  <a:srgbClr val="A84A4A"/>
                </a:solidFill>
                <a:latin typeface="Calibri"/>
              </a:rPr>
              <a:t>FUTURE ROADMAP — milestone 2.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30183" y="2331720"/>
            <a:ext cx="3200400" cy="3657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Cluster stories across SOPs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30183" y="2834639"/>
            <a:ext cx="3200400" cy="3657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Lift to capability stories
(threshold ≥ 2 distinct SOPs)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30183" y="3401568"/>
            <a:ext cx="3200400" cy="3657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Emit Stream B (capability)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5257800"/>
            <a:ext cx="3383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1">
                <a:solidFill>
                  <a:srgbClr val="A84A4A"/>
                </a:solidFill>
                <a:latin typeface="Calibri"/>
              </a:rPr>
              <a:t>Milestone 1 ships without Phase 3.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852160"/>
            <a:ext cx="5545836" cy="566928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897880"/>
            <a:ext cx="527151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5C8347"/>
                </a:solidFill>
                <a:latin typeface="Calibri"/>
              </a:rPr>
              <a:t>Sampled Validator QC (Quality Control)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126480"/>
            <a:ext cx="527151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F2D3D"/>
                </a:solidFill>
                <a:latin typeface="Calibri"/>
              </a:rPr>
              <a:t>~10% async sampling of emitted Phase 2 stories.  Drift → priority review.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85916" y="5852160"/>
            <a:ext cx="5545836" cy="56692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3076" y="5897880"/>
            <a:ext cx="527151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A84A4A"/>
                </a:solidFill>
                <a:latin typeface="Calibri"/>
              </a:rPr>
              <a:t>Review queue (HITL — Human-in-the-Loop)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3076" y="6126480"/>
            <a:ext cx="527151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F2D3D"/>
                </a:solidFill>
                <a:latin typeface="Calibri"/>
              </a:rPr>
              <a:t>Every emission logged.  Failures + low-conf prioritized for human review (post-hoc, non-blocking).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123944" y="3611880"/>
            <a:ext cx="146304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946136" y="3611880"/>
            <a:ext cx="146304" cy="0"/>
          </a:xfrm>
          <a:prstGeom prst="line">
            <a:avLst/>
          </a:prstGeom>
          <a:ln w="25400">
            <a:solidFill>
              <a:srgbClr val="6E4F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3 agents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3 LLM agents, each owning one step. Chunking, embedding, clustering, and per-chunk tag assembly are deterministic; the LLM handles naming, extraction, and validation.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11274552" cy="224028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1581912"/>
            <a:ext cx="2331720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F2D3D"/>
                </a:solidFill>
                <a:latin typeface="Calibri"/>
              </a:rPr>
              <a:t>Catalog Builder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1618488"/>
            <a:ext cx="84856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F4E79"/>
                </a:solidFill>
                <a:latin typeface="Calibri"/>
              </a:rPr>
              <a:t>Cold-discovers the 5 catalogs + per-chunk tag manifest from the SOP corpus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920240"/>
            <a:ext cx="84856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Runs in: Phase 1 (5 runs, two modes)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08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  <a:latin typeface="Calibri"/>
              </a:rPr>
              <a:t>What it does: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78608"/>
            <a:ext cx="109087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Taxonomy mode (capability → theme → epic, top-down cascade): clusters chunks, names each cluster, admits via rubric; child levels cluster only within their parent's chunks.  Entity mode (persona, test): extracts named mentions per chunk, dedupes across the corpus, admits each unique entity.  As a side effect, every chunk emerges with all 5 tags attached (no separate tagging step).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1090879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5C8347"/>
                </a:solidFill>
                <a:latin typeface="Calibri"/>
              </a:rPr>
              <a:t>Why this is simpler: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01568"/>
            <a:ext cx="109087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One agent class with two modes, instead of five separate agent classes — and tagging falls out for free.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13632"/>
            <a:ext cx="5486400" cy="24231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4078224"/>
            <a:ext cx="2331720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F2D3D"/>
                </a:solidFill>
                <a:latin typeface="Calibri"/>
              </a:rPr>
              <a:t>Story Extractor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4114800"/>
            <a:ext cx="26974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F4E79"/>
                </a:solidFill>
                <a:latin typeface="Calibri"/>
              </a:rPr>
              <a:t>Produces 4-shape stories with inline self-check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4416552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Runs in: Phase 2 (per chunk, parallel across SOPs)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2803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  <a:latin typeface="Calibri"/>
              </a:rPr>
              <a:t>What it does: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Reads the chunk's pre-attached tags from Phase 1 (capability / theme / epic / persona / test).  Generates a story (capability / workflow_stage_split / configuration_instance / cleanup) matching the chunk + tags.  Emits extraction_confidence + self_check verdict.  Story always emits to corpus; FAIL or low-conf flagged for priority review.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3387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5C8347"/>
                </a:solidFill>
                <a:latin typeface="Calibri"/>
              </a:rPr>
              <a:t>Why this is simpler: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80759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Non-blocking: self-check on the hot path, no revise loop, no waiting for a human.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913632"/>
            <a:ext cx="5486400" cy="242316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9944" y="4078224"/>
            <a:ext cx="2331720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50" b="1" i="0">
                <a:solidFill>
                  <a:srgbClr val="1F2D3D"/>
                </a:solidFill>
                <a:latin typeface="Calibri"/>
              </a:rPr>
              <a:t>Sampled Validator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1392" y="4114800"/>
            <a:ext cx="26974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1F4E79"/>
                </a:solidFill>
                <a:latin typeface="Calibri"/>
              </a:rPr>
              <a:t>Async drift detection on a sample of stories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1392" y="4416552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Runs in: Cross-cutting (~10% of emitted stories)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482803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2D3D"/>
                </a:solidFill>
                <a:latin typeface="Calibri"/>
              </a:rPr>
              <a:t>What it does: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8232" y="5074920"/>
            <a:ext cx="5120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Re-runs the full Validator rubric on a sampled fraction of stories already in the corpus.  On FAIL, the story is logged to the review queue (with rubric diff) for priority review — story stays in corpus.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28232" y="583387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5C8347"/>
                </a:solidFill>
                <a:latin typeface="Calibri"/>
              </a:rPr>
              <a:t>Why this is simpler: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2" y="6080759"/>
            <a:ext cx="5120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Drift detection on a sample, not a gate — never blocks emission.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Catalog Build (cold)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The 3 taxonomy runs cascade top-down (capability → theme within capability → epic within theme).  The 2 entity runs (persona, test) are parallel.  All five share the same chunking; each step admits its 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2918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Phase 1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27632"/>
            <a:ext cx="3291840" cy="384048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SOPs (full corpus)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76272"/>
            <a:ext cx="329184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1. Chunk SOPs (deterministic)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17520"/>
            <a:ext cx="155448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3063240"/>
            <a:ext cx="14081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F2D3D"/>
                </a:solidFill>
                <a:latin typeface="Calibri"/>
              </a:rPr>
              <a:t>Capability run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3291840"/>
            <a:ext cx="1408176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1F2D3D"/>
                </a:solidFill>
                <a:latin typeface="Calibri"/>
              </a:rPr>
              <a:t>Cluster all chunks → name +
admit.  ~6–12 capabilities.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41064"/>
            <a:ext cx="155448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3986784"/>
            <a:ext cx="14081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F2D3D"/>
                </a:solidFill>
                <a:latin typeface="Calibri"/>
              </a:rPr>
              <a:t>Theme run (per capability)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4215384"/>
            <a:ext cx="1408176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1F2D3D"/>
                </a:solidFill>
                <a:latin typeface="Calibri"/>
              </a:rPr>
              <a:t>Re-cluster within each
capability.  ~12–20 themes.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64608"/>
            <a:ext cx="155448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910328"/>
            <a:ext cx="14081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F2D3D"/>
                </a:solidFill>
                <a:latin typeface="Calibri"/>
              </a:rPr>
              <a:t>Epic run (per theme)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138928"/>
            <a:ext cx="1408176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1F2D3D"/>
                </a:solidFill>
                <a:latin typeface="Calibri"/>
              </a:rPr>
              <a:t>Re-cluster within each
theme.  ~80–150 epics.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3017520"/>
            <a:ext cx="1554480" cy="77724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7712" y="3063240"/>
            <a:ext cx="14081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F2D3D"/>
                </a:solidFill>
                <a:latin typeface="Calibri"/>
              </a:rPr>
              <a:t>Extract mentions (LLM)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3291840"/>
            <a:ext cx="1408176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1F2D3D"/>
                </a:solidFill>
                <a:latin typeface="Calibri"/>
              </a:rPr>
              <a:t>Per chunk, pull named
personas / tests.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3941064"/>
            <a:ext cx="1554480" cy="7772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7712" y="3986784"/>
            <a:ext cx="1408176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1" i="0">
                <a:solidFill>
                  <a:srgbClr val="1F2D3D"/>
                </a:solidFill>
                <a:latin typeface="Calibri"/>
              </a:rPr>
              <a:t>Dedupe + admit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7712" y="4215384"/>
            <a:ext cx="1408176" cy="4663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0">
                <a:solidFill>
                  <a:srgbClr val="1F2D3D"/>
                </a:solidFill>
                <a:latin typeface="Calibri"/>
              </a:rPr>
              <a:t>Merge near-duplicates;
admit each unique entity.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824728"/>
            <a:ext cx="329184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2D3D"/>
                </a:solidFill>
                <a:latin typeface="Calibri"/>
              </a:rPr>
              <a:t>Catalog YAML  +  per-chunk tag manifest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03120" y="2011680"/>
            <a:ext cx="0" cy="16459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234440" y="2560320"/>
            <a:ext cx="868680" cy="45720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103120" y="2560320"/>
            <a:ext cx="868680" cy="45720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34440" y="3794760"/>
            <a:ext cx="0" cy="14630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234440" y="4718304"/>
            <a:ext cx="0" cy="14630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71800" y="3794760"/>
            <a:ext cx="0" cy="14630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34440" y="5641848"/>
            <a:ext cx="86868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2103120" y="4718304"/>
            <a:ext cx="868680" cy="110642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023359" y="5824728"/>
            <a:ext cx="2240280" cy="38404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799" y="5861304"/>
            <a:ext cx="20574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A84A4A"/>
                </a:solidFill>
                <a:latin typeface="Calibri"/>
              </a:rPr>
              <a:t>↘ Review queue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9" y="6025896"/>
            <a:ext cx="20574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1F2D3D"/>
                </a:solidFill>
                <a:latin typeface="Calibri"/>
              </a:rPr>
              <a:t>Low-conf admits (any level) flagged — pipeline never waits.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58183" y="6016752"/>
            <a:ext cx="256032" cy="0"/>
          </a:xfrm>
          <a:prstGeom prst="line">
            <a:avLst/>
          </a:prstGeom>
          <a:ln w="19050">
            <a:solidFill>
              <a:srgbClr val="A84A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92240" y="1325880"/>
            <a:ext cx="5257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Phase 1 outputs — 5 catalogs + per-chunk tag manifest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2240" y="1627632"/>
            <a:ext cx="5257800" cy="9601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1682496"/>
            <a:ext cx="503834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business_capability_v1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01968" y="1920240"/>
            <a:ext cx="50383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5606E"/>
                </a:solidFill>
                <a:latin typeface="Calibri"/>
              </a:rPr>
              <a:t>~6–12 broad business outcomes (top of hierarchy)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2130552"/>
            <a:ext cx="503834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key · label · desc · n_themes · admit_confidence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2240" y="2752344"/>
            <a:ext cx="2537460" cy="9601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2807208"/>
            <a:ext cx="23180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theme_v1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1968" y="3044952"/>
            <a:ext cx="231800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5606E"/>
                </a:solidFill>
                <a:latin typeface="Calibri"/>
              </a:rPr>
              <a:t>~12–20, under capabilities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8" y="3255264"/>
            <a:ext cx="23180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key · label · capability_ref · n_chunks · n_sops · admit_confidence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12580" y="2752344"/>
            <a:ext cx="2537460" cy="9601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2307" y="2807208"/>
            <a:ext cx="23180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epic_v1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2307" y="3044952"/>
            <a:ext cx="231800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5606E"/>
                </a:solidFill>
                <a:latin typeface="Calibri"/>
              </a:rPr>
              <a:t>~80–150, under themes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2307" y="3255264"/>
            <a:ext cx="23180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key · label · theme_ref · n_sops · admit_confidence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92240" y="3877056"/>
            <a:ext cx="2537460" cy="9601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01968" y="3931920"/>
            <a:ext cx="23180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persona_v1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4169664"/>
            <a:ext cx="231800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5606E"/>
                </a:solidFill>
                <a:latin typeface="Calibri"/>
              </a:rPr>
              <a:t>Named actors in SOPs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01968" y="4379976"/>
            <a:ext cx="23180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key · label · actor_type · n_mentions · admit_confidence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12580" y="3877056"/>
            <a:ext cx="2537460" cy="96012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322307" y="3931920"/>
            <a:ext cx="2318004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test_v1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2307" y="4169664"/>
            <a:ext cx="231800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55606E"/>
                </a:solidFill>
                <a:latin typeface="Calibri"/>
              </a:rPr>
              <a:t>Named tests / assays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322307" y="4379976"/>
            <a:ext cx="231800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0">
                <a:solidFill>
                  <a:srgbClr val="1F2D3D"/>
                </a:solidFill>
                <a:latin typeface="Calibri"/>
              </a:rPr>
              <a:t>key · label · n_sops · admit_confidence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92240" y="5020056"/>
            <a:ext cx="5257800" cy="713232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Unclassified bucket on each taxonomy catalog (capability / theme / epic) holds chunks that did not cluster cleanly. Surfaced for review, not lost.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Catalog schemas +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Each Phase 1 output is a small structured YAML. Slug-based keys + human-readable labels. Microbiology illustrative.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45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business_capability_v1.yaml  (top of hierarchy)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1274552" cy="100584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catalog: business_capability_v1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version: 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discipline: microbiology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business_capabilities: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specimen_lifecycle, label: "Specimen Lifecycle Management", desc: "Intake, routing, QC (Quality Control), disposal", n_themes: 4, admit_confidence: 0.91}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diagnostic_execution, label: "Diagnostic Test Execution", n_themes: 5, admit_confidence: 0.88}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result_delivery, label: "Result Reporting &amp; Delivery", n_themes: 3, admit_confidence: 0.93}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# ... 6-12 capabilities total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14600"/>
            <a:ext cx="554583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theme_v1.yaml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88920"/>
            <a:ext cx="5545836" cy="17830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catalog: theme_v1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version: 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discipline: microbiology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key: specimen_handling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label: "Specimen handling"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capability_ref: specimen_lifecycle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desc: Intake, routing, QC (Quality Control)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n_chunks: 142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n_sops: 22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admit_confidence: 0.92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culture_setup, label: "Culture setup", capability_ref: diagnostic_execution, n_sops: 18, admit_confidence: 0.88}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result_review, label: "Result review", capability_ref: result_delivery, n_sops: 24, admit_confidence: 0.90}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unclassified, label: "Unclassified", n_chunks: 14}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5916" y="2514600"/>
            <a:ext cx="554583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epic_v1.yaml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2788920"/>
            <a:ext cx="5545836" cy="17830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catalog: epic_v1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version: 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discipline: microbiology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epics: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key: specimen_intake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label: "Specimen intake at receiving"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theme_ref: specimen_handling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desc: Accessioning, barcoding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n_sops: 14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admit_confidence: 0.88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gram_stain_prep, label: "Gram stain prep", theme_ref: culture_setup, n_sops: 14, admit_confidence: 0.91}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result_sign_off, label: "Result sign-off", theme_ref: result_review, n_sops: 24, admit_confidence: 0.85}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# ~80-150 epics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554583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persona_v1.yaml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709160"/>
            <a:ext cx="5545836" cy="17830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catalog: persona_v1     # named actors discovered in SOPs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version: 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discipline: microbiology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personas: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key: microbiologist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label: "Microbiologist"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actor_type: human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desc: Reads cultures, signs off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n_mentions: 167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admit_confidence: 0.95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lab_assistant, label: "Lab assistant", actor_type: human, n_mentions: 91, admit_confidence: 0.93}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lims, label: "LIMS (Laboratory Information Management System)", actor_type: system, n_mentions: 134, admit_confidence: 0.97}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emr, label: "EMR (Electronic Medical Record)", actor_type: external_system, n_mentions: 28, admit_confidence: 0.86}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85916" y="4434840"/>
            <a:ext cx="554583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test_v1.yaml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916" y="4709160"/>
            <a:ext cx="5545836" cy="17830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catalog: test_v1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version: 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discipline: microbiology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tests: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key: blood_culture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label: "Blood culture"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desc: Aerobic + anaerobic, 5d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n_sops: 11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  admit_confidence: 0.91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urine_culture, label: "Urine culture", n_sops: 9, admit_confidence: 0.89}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gram_stain, label: "Gram stain", n_sops: 14, admit_confidence: 0.94}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- {key: ast, label: "AST (Antimicrobial Susceptibility Testing)", n_sops: 7, admit_confidence: 0.82}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Extraction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For each SOP in parallel, walk its chunks (Phase 1 already attached the 5 tags) and run Story Extractor on 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760720" cy="5074920"/>
          </a:xfrm>
          <a:prstGeom prst="rect">
            <a:avLst/>
          </a:prstGeom>
          <a:solidFill>
            <a:srgbClr val="FAFBFD"/>
          </a:solidFill>
          <a:ln w="12700">
            <a:solidFill>
              <a:srgbClr val="B8C4D2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539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55606E"/>
                </a:solidFill>
                <a:latin typeface="Calibri"/>
              </a:rPr>
              <a:t>ForEach SOP (in parallel)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920240"/>
            <a:ext cx="4937759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One SOP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514600"/>
            <a:ext cx="4937759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Load this SOP's chunks (from Phase 1)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3200400"/>
            <a:ext cx="4754879" cy="1508760"/>
          </a:xfrm>
          <a:prstGeom prst="rect">
            <a:avLst/>
          </a:prstGeom>
          <a:solidFill>
            <a:srgbClr val="FEFBF2"/>
          </a:solidFill>
          <a:ln w="9525">
            <a:solidFill>
              <a:srgbClr val="C9952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73552"/>
            <a:ext cx="4480559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C9952C"/>
                </a:solidFill>
                <a:latin typeface="Calibri"/>
              </a:rPr>
              <a:t>ForEach chunk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84448"/>
            <a:ext cx="42062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5606E"/>
                </a:solidFill>
                <a:latin typeface="Calibri"/>
              </a:rPr>
              <a:t>Chunk arrives with all 5 tags attached (from Phase 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3858768"/>
            <a:ext cx="4206240" cy="6400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
(generates 4-shape story · self_check rubric)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37559" y="233172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37559" y="292608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8680" y="4892040"/>
            <a:ext cx="4937759" cy="45720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Stories → corpus + audit log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37559" y="4709160"/>
            <a:ext cx="0" cy="18288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68680" y="5458968"/>
            <a:ext cx="49377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 i="1">
                <a:solidFill>
                  <a:srgbClr val="A84A4A"/>
                </a:solidFill>
                <a:latin typeface="Calibri"/>
              </a:rPr>
              <a:t>↘ FAIL or low-confidence stories also flagged for priority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3716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Phase 1 chunk record (input to Story Extractor)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645920"/>
            <a:ext cx="5303520" cy="210312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Phase 1 chunk record  (chunk + 5 tags, ready for Phase 2)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chunk_id: SOP_023.sec_4_2.chunk_07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sop_ref: SOP_023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text: |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After accessioning, the lab assistant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prepares a Gram stain on the specimen.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The microbiologist reviews the smear.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tags: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capability_ref: diagnostic_execution   # from cascade cluster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theme_ref:      culture_setup          # from cascade cluster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epic_ref:       gram_stain_prep        # from cascade cluster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persona_refs:   [lab_assistant, microbiologist]   # extracted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test_ref:       gram_stain                        # extracted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749039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Story Extractor output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4023359"/>
            <a:ext cx="5303520" cy="22402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Story Extractor output (one of possibly several stories per chunk)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story_id: ST_023_07_a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shape: workflow_stage_split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title: Lab assistant preps Gram stain before reading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sop_refs: [SOP_023]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capability_ref: diagnostic_execution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theme_ref: culture_setup     epic_ref: gram_stain_prep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persona_refs: [lab_assistant]            # narrowed from chunk's 2 personas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test_ref: gram_stain                     # this story focuses on the prep action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predecessor_capability: specimen_lifecycle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successor_capability:  diagnostic_execution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acceptance_criteria: ["Smear stained per protocol"]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extraction_confidence: 0.91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self_check: pass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hitl_status: auto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Story schema + 4 shapes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Shared fields, then shape-specific fields. Validator rubric is shape-aware.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45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Story schema (all shapes share the top block)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11274552" cy="1371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story_id        | shape ∈ {capability, workflow_stage_split, configuration_instance, cleanup}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           | sop_refs[]                | capability_ref  | theme_ref | epic_ref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persona_refs[]  | test_ref                  | acceptance_criteria[]      | self_check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extraction_confidence (0.0-1.0)  |  hitl_status ∈ {auto, confirmed, corrected, rejected}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shape-specific  | (capability)             sop_refs ≥ 2 distinct SOPs  (recurring pattern)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| (workflow_stage_split)   predecessor_capability, successor_capability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| (configuration_instance) config_keys[]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| (cleanup)                deprecates[], replaced_by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note: shape=capability is a STORY TYPE (lifted recurring pattern, sop_breadth ≥ 2).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It references — but is distinct from — the business_capability_v1 catalog.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56052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46120"/>
            <a:ext cx="5605272" cy="15544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story_id: ST_C_017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shape: capability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title: System tracks specimens by barcode end-to-end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sop_refs: [SOP_023, SOP_041, SOP_055]   # ≥ 2 SOPs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capability_ref: specimen_lifecycle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theme_ref: specimen_handling   epic_ref: specimen_intake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persona_refs: [lims]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acceptance_criteria: ["Unique barcode at intake", "Resolves to location"]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extraction_confidence: 0.92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self_check: pass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hitl_status: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971800"/>
            <a:ext cx="56052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workflow_stage_split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3246120"/>
            <a:ext cx="5605272" cy="15544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story_id: ST_S_044    shape: workflow_stage_split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title: Microbiologist signs off culture before release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sop_refs: [SOP_017]    persona_refs: [microbiologist]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capability_ref: result_delivery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theme_ref: result_review    epic_ref: result_sign_off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predecessor_capability: diagnostic_execution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successor_capability:  result_delivery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acceptance_criteria: ["Sign-off requires organism ID confirmation"]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extraction_confidence: 0.88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self_check: pass    hitl_status: auto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617720"/>
            <a:ext cx="56052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configuration_instance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92040"/>
            <a:ext cx="5605272" cy="15544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story_id: ST_F_009    shape: configuration_instance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title: Configurable reject criteria for urine specimens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sop_refs: [SOP_039]    persona_refs: [microbiologist]    test_ref: urine_culture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capability_ref: specimen_lifecycle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theme_ref: specimen_handling    epic_ref: specimen_intake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config_keys: [colony_count_threshold, contamination_rule]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acceptance_criteria: ["Thresholds editable per site without code change"]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extraction_confidence: 0.79      # below 0.85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self_check: pass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hitl_status: auto                # in corpus, flagged for priority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617720"/>
            <a:ext cx="56052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4892040"/>
            <a:ext cx="5605272" cy="15544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story_id: ST_X_103    shape: cleanup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title: Remove deprecated Gram stain manual reader path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sop_refs: [SOP_044, SOP_044_amended]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capability_ref: diagnostic_execution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theme_ref: culture_setup    epic_ref: gram_stain_prep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test_ref: gram_stain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deprecates: [legacy_manual_reader_v0]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replaced_by: [automated_reader_v1]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acceptance_criteria: ["All v0 references removed"]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extraction_confidence: 0.91    self_check: pass    hitl_status: auto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Sampled Validator QC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Drift detection, not a gate. ~10% of stories audited asynchronously; Story Extractor's self-check is the hot path.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How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91640"/>
            <a:ext cx="54864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Extractor emits stories (with self_check)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50008"/>
            <a:ext cx="5486400" cy="45720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Sampler (~10% rate, configurable per discipline)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008376"/>
            <a:ext cx="54864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Validator runs full rubric (shape-aware)</a:t>
            </a:r>
          </a:p>
        </p:txBody>
      </p:sp>
      <p:sp>
        <p:nvSpPr>
          <p:cNvPr id="9" name="Diamond 8"/>
          <p:cNvSpPr/>
          <p:nvPr/>
        </p:nvSpPr>
        <p:spPr>
          <a:xfrm>
            <a:off x="2468880" y="3739896"/>
            <a:ext cx="1463040" cy="7772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verdict?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745736"/>
            <a:ext cx="2651760" cy="45720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2D3D"/>
                </a:solidFill>
                <a:latin typeface="Calibri"/>
              </a:rPr>
              <a:t>PASS → log audit 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4745736"/>
            <a:ext cx="2651760" cy="45720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FAIL → log to review queue
(priority; story stays in corpus)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148840"/>
            <a:ext cx="0" cy="201168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200400" y="2807208"/>
            <a:ext cx="0" cy="201168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00400" y="3465576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783080" y="4517136"/>
            <a:ext cx="1417320" cy="22860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988819" y="4585716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0">
                <a:solidFill>
                  <a:srgbClr val="55606E"/>
                </a:solidFill>
                <a:latin typeface="Calibri"/>
              </a:rPr>
              <a:t>pass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00400" y="4517136"/>
            <a:ext cx="1417320" cy="22860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000500" y="4585716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0">
                <a:solidFill>
                  <a:srgbClr val="55606E"/>
                </a:solidFill>
                <a:latin typeface="Calibri"/>
              </a:rPr>
              <a:t>fail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77256"/>
            <a:ext cx="5486400" cy="77724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Rubric checks (shape-aware): actionability · testable acceptance criteria · shape alignment · persona resolved · SOP traceable · sop_breadth ≥ 2 (capability shape only).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1417320"/>
            <a:ext cx="5486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PASS — story kept, audit logged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691640"/>
            <a:ext cx="5486400" cy="210312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validator_run: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story_id: ST_023_07_a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workflow_stage_split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rubric_version: v1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checks: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actionability:    pass    # has concrete action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testable_AC:      pass    # criteria are verifiable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shape_alignment:  pass    # has predecessor + successor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persona_resolved: pass    # lab_assistant in catalog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sop_traceable:    pass    # SOP_023.sec_4_2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verdict: PASS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sample_decision: kept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486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FAIL — alert raised (story already emitted)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069080"/>
            <a:ext cx="5486400" cy="242316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validator_run: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story_id: ST_119_03_b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checks: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actionability:    pass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testable_AC:      FAIL    # criterion 2 unverifiable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shape_alignment:  pass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persona_resolved: pass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sop_traceable:    pass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- sop_breadth_&gt;=2:  pass    # capability-only check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verdict: FAIL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reason: |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Criterion 2: "system handles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efficiently" — no measurable threshold.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action: log to review queue (priority: high)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note: story remains in corpus; reviewer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decides confirm/correct/reject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HITL — non-blocking review queue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Every emission flows to corpus AND to the review queue.  Reviewer can confirm / correct / reject post-hoc — pipeline never waits.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55321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Sources logged to the review queue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" y="1737360"/>
            <a:ext cx="17099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Calibri"/>
              </a:rPr>
              <a:t>Story Extractor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93391"/>
            <a:ext cx="1783080" cy="612647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self_check FAIL
or confidence &lt; 0.85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296" y="1737360"/>
            <a:ext cx="17099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Calibri"/>
              </a:rPr>
              <a:t>Sampled Validator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1993391"/>
            <a:ext cx="1783080" cy="612647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rubric verdict
FAIL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2816" y="1737360"/>
            <a:ext cx="1709928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 i="0">
                <a:solidFill>
                  <a:srgbClr val="1F4E79"/>
                </a:solidFill>
                <a:latin typeface="Calibri"/>
              </a:rPr>
              <a:t>Catalog Builder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993391"/>
            <a:ext cx="1783080" cy="612647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0" i="0">
                <a:solidFill>
                  <a:srgbClr val="1F2D3D"/>
                </a:solidFill>
                <a:latin typeface="Calibri"/>
              </a:rPr>
              <a:t>admit_confidence
&lt; 0.80 (any of
5 catalogs)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71799"/>
            <a:ext cx="55321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 i="0">
                <a:solidFill>
                  <a:srgbClr val="1F2D3D"/>
                </a:solidFill>
                <a:latin typeface="Calibri"/>
              </a:rPr>
              <a:t>Review queue — every emission logged; failures + low-conf prioritized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48740" y="2615183"/>
            <a:ext cx="1874520" cy="347473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223260" y="2615183"/>
            <a:ext cx="0" cy="347473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3223260" y="2615183"/>
            <a:ext cx="1874519" cy="347473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7200" y="3657599"/>
            <a:ext cx="553212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Human reviewer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23260" y="3428999"/>
            <a:ext cx="0" cy="22860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Diamond 17"/>
          <p:cNvSpPr/>
          <p:nvPr/>
        </p:nvSpPr>
        <p:spPr>
          <a:xfrm>
            <a:off x="2446020" y="4233671"/>
            <a:ext cx="1554480" cy="713232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decision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223260" y="4069079"/>
            <a:ext cx="0" cy="16459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3776" y="5221223"/>
            <a:ext cx="17099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5C8347"/>
                </a:solidFill>
                <a:latin typeface="Calibri"/>
              </a:rPr>
              <a:t>Confirm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58967"/>
            <a:ext cx="1783080" cy="466344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no change
(item stays in corpus)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348740" y="4946903"/>
            <a:ext cx="1874520" cy="51206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68296" y="5221223"/>
            <a:ext cx="17099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5C8347"/>
                </a:solidFill>
                <a:latin typeface="Calibri"/>
              </a:rPr>
              <a:t>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5458967"/>
            <a:ext cx="1783080" cy="466344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edit + apply
→ manual emit-back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3260" y="4946903"/>
            <a:ext cx="0" cy="51206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42816" y="5221223"/>
            <a:ext cx="1709928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A84A4A"/>
                </a:solidFill>
                <a:latin typeface="Calibri"/>
              </a:rPr>
              <a:t>Reject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5458967"/>
            <a:ext cx="1783080" cy="466344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remove from corpus
→ manual emit-back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23260" y="4946903"/>
            <a:ext cx="1874519" cy="512064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57200" y="6016751"/>
            <a:ext cx="5532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5606E"/>
                </a:solidFill>
                <a:latin typeface="Calibri"/>
              </a:rPr>
              <a:t>hitl_status: auto · confirmed · corrected · rejected.  Milestone 1: reviewer decisions applied to corpus manually (auto emit-back on roadmap).  Thresholds configurable per discipline.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1417320"/>
            <a:ext cx="546811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Confidence — where it surfaces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1691640"/>
            <a:ext cx="5468112" cy="201168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At every agent boundary, a confidence is emitted.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 item     →  admit_confidence: 0.92    # rubric score (cluster or entity)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 extractor  →  extraction_confidence: 0.89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sampled validator →  verdict: PASS / FAIL  +  reason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Review-priority thresholds (configurable per discipline)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catalog_admit_min:    0.80    # below → priority review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story_extract_min:    0.85    # below → priority review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validator_drift:      any FAIL → priority review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queue_priority:       weighted(confidence, impact)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931920"/>
            <a:ext cx="546811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1F4E79"/>
                </a:solidFill>
                <a:latin typeface="Calibri"/>
              </a:rPr>
              <a:t>Review queue item — example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206240"/>
            <a:ext cx="5468112" cy="233172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tIns="54864" bIns="54864"/>
          <a:lstStyle/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queue_id: RQ_2026_05_08_0042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source: story_extractor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ref: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story_id: ST_119_03_b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flags: ["low_confidence", "self_check_fail"]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confidence: 0.62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priority: high              # high | medium | low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state: pending_review       # pending_review | reviewed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Reviewer decision (post-hoc):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reviewer_actions: [confirm, correct, reject]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After decision, ref.hitl_status is updated;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applying the decision to the corpus is a</a:t>
            </a:r>
          </a:p>
          <a:p>
            <a:pPr algn="l">
              <a:spcAft>
                <a:spcPts val="0"/>
              </a:spcAft>
            </a:pPr>
            <a:r>
              <a:rPr sz="800">
                <a:solidFill>
                  <a:srgbClr val="1F2D3D"/>
                </a:solidFill>
                <a:latin typeface="Consolas"/>
              </a:rPr>
              <a:t># manual step in milestone 1.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+ future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55606E"/>
                </a:solidFill>
                <a:latin typeface="Calibri"/>
              </a:rPr>
              <a:t>Milestone 1 deliverables on the left. Roadmap items on the right — explicit, deferred to milestone 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5486400" cy="45720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Milestone 1 — what ships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5486400" cy="452628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•  Story corpus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32304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4-shape stories with extraction_confidence + hitl_status, self-checked at emission, traceable to SOP chunks.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17520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•  5 catalogs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73552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business_capability · theme · epic · persona · test — each cold-discovered with per-item confidence; slug-based keys.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58768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•  Review queue + audit 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114800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Every emission logged for human review; failures + low-conf prioritized.  Decisions captured immediately.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00016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•  Sampled Validator QC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956048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~10% sample rate, async; drift surfaces in the review queue.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41264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•  Onboarding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797296"/>
            <a:ext cx="47548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Hand the system SOPs for a new discipline; outputs follow with no SME pre-curation.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45352" y="1417320"/>
            <a:ext cx="5486400" cy="457200"/>
          </a:xfrm>
          <a:prstGeom prst="roundRect">
            <a:avLst/>
          </a:prstGeom>
          <a:solidFill>
            <a:srgbClr val="F0ECF7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6E4FA0"/>
                </a:solidFill>
                <a:latin typeface="Calibri"/>
              </a:rPr>
              <a:t>Roadmap — milestone 2 and beyond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5352" y="2011680"/>
            <a:ext cx="5486400" cy="4526280"/>
          </a:xfrm>
          <a:prstGeom prst="roundRect">
            <a:avLst/>
          </a:prstGeom>
          <a:solidFill>
            <a:srgbClr val="FBFCFE"/>
          </a:solidFill>
          <a:ln w="12700">
            <a:solidFill>
              <a:srgbClr val="C8D2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194560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E4FA0"/>
                </a:solidFill>
                <a:latin typeface="Calibri"/>
              </a:rPr>
              <a:t>•  Phase 3 — Cross-SOP Synthesis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8272" y="2450591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Cluster stories across SOPs; lift recurring patterns to capability stories at threshold ≥ 2 distinct SOPs.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227832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E4FA0"/>
                </a:solidFill>
                <a:latin typeface="Calibri"/>
              </a:rPr>
              <a:t>•  Auto emit-back from reviewer decisions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3483863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Apply confirm / correct / reject decisions to the corpus automatically; current milestone applies them manually.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261104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E4FA0"/>
                </a:solidFill>
                <a:latin typeface="Calibri"/>
              </a:rPr>
              <a:t>•  Reviewer dashboard + queue analytics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4517136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Production-grade reviewer UI: prioritization, batch operations, reviewer-performance analytics, decision provenance.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5294376"/>
            <a:ext cx="5029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6E4FA0"/>
                </a:solidFill>
                <a:latin typeface="Calibri"/>
              </a:rPr>
              <a:t>•  Threshold auto-tuning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5550408"/>
            <a:ext cx="47548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D3D"/>
                </a:solidFill>
                <a:latin typeface="Calibri"/>
              </a:rPr>
              <a:t>Replace fixed rubric and confidence thresholds with telemetry-driven tuning (precision and recall against reviewer decision history).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777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