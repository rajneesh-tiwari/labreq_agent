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441F"/>
                </a:solidFill>
                <a:latin typeface="Calibri"/>
              </a:rPr>
              <a:t>◗ </a:t>
            </a:r>
            <a:r>
              <a:rPr sz="1000" b="1" i="0" spc="150">
                <a:solidFill>
                  <a:srgbClr val="C0441F"/>
                </a:solidFill>
                <a:latin typeface="Calibri"/>
              </a:rPr>
              <a:t>LAB SOFTWARE STORY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0" i="1">
                <a:solidFill>
                  <a:srgbClr val="1A1A2E"/>
                </a:solidFill>
                <a:latin typeface="Cambria"/>
              </a:rPr>
              <a:t>From SOPs to a ready-to-use
dev backlog — without
an expert reviewing each item.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88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A6878"/>
                </a:solidFill>
                <a:latin typeface="Calibri Light"/>
              </a:rPr>
              <a:t>A discipline-agnostic system for clinical-lab software development.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3246120"/>
            <a:ext cx="11185855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35204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C0441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661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A2E"/>
                </a:solidFill>
                <a:latin typeface="Cambria"/>
              </a:rPr>
              <a:t>SOPs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878"/>
                </a:solidFill>
                <a:latin typeface="Calibri Light"/>
              </a:rPr>
              <a:t>Standard Operating Procedures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34840" y="3794760"/>
            <a:ext cx="228600" cy="0"/>
          </a:xfrm>
          <a:prstGeom prst="line">
            <a:avLst/>
          </a:prstGeom>
          <a:ln w="19050">
            <a:solidFill>
              <a:srgbClr val="C0441F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0" y="35204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C0441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5661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A2E"/>
                </a:solidFill>
                <a:latin typeface="Cambria"/>
              </a:rPr>
              <a:t>Our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878"/>
                </a:solidFill>
                <a:latin typeface="Calibri Light"/>
              </a:rPr>
              <a:t>reads, drafts, validates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0" y="3794760"/>
            <a:ext cx="228600" cy="0"/>
          </a:xfrm>
          <a:prstGeom prst="line">
            <a:avLst/>
          </a:prstGeom>
          <a:ln w="19050">
            <a:solidFill>
              <a:srgbClr val="C0441F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006840" y="35204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C0441F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19" y="35661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A2E"/>
                </a:solidFill>
                <a:latin typeface="Cambria"/>
              </a:rPr>
              <a:t>Dev backlog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19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878"/>
                </a:solidFill>
                <a:latin typeface="Calibri Light"/>
              </a:rPr>
              <a:t>Jira: Epics + Stories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6344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WHY THIS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3776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Today.  </a:t>
            </a:r>
            <a:r>
              <a:rPr sz="1200" b="0" i="0">
                <a:solidFill>
                  <a:srgbClr val="5A6878"/>
                </a:solidFill>
                <a:latin typeface="Calibri Light"/>
              </a:rPr>
              <a:t>Every new SOP → manual expert review → hand-written stories. Slow, costly, inconsistent.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9496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With this system.  </a:t>
            </a:r>
            <a:r>
              <a:rPr sz="1200" b="0" i="0">
                <a:solidFill>
                  <a:srgbClr val="5A6878"/>
                </a:solidFill>
                <a:latin typeface="Calibri Light"/>
              </a:rPr>
              <a:t>SOPs in, structured stories out. Quality is built into the rules, not into one expert's review.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5216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2E"/>
                </a:solidFill>
                <a:latin typeface="Calibri"/>
              </a:rPr>
              <a:t>Designed to generalize.  </a:t>
            </a:r>
            <a:r>
              <a:rPr sz="1200" b="0" i="0">
                <a:solidFill>
                  <a:srgbClr val="5A6878"/>
                </a:solidFill>
                <a:latin typeface="Calibri Light"/>
              </a:rPr>
              <a:t>Same system, any clinical discipline. Each new discipline is a configuration change, not an engineering project.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635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583679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B0A89B"/>
                </a:solidFill>
                <a:latin typeface="Calibri Light"/>
              </a:rPr>
              <a:t>Lab Software Story Generation  ·  Client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4375" y="65836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0441F"/>
                </a:solidFill>
                <a:latin typeface="Cambria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441F"/>
                </a:solidFill>
                <a:latin typeface="Calibri"/>
              </a:rPr>
              <a:t>◗ </a:t>
            </a:r>
            <a:r>
              <a:rPr sz="1000" b="1" i="0" spc="150">
                <a:solidFill>
                  <a:srgbClr val="C0441F"/>
                </a:solidFill>
                <a:latin typeface="Calibri"/>
              </a:rPr>
              <a:t>THE TEACHING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1">
                <a:solidFill>
                  <a:srgbClr val="1A1A2E"/>
                </a:solidFill>
                <a:latin typeface="Cambria"/>
              </a:rPr>
              <a:t>What "prior discipline" really means.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A6878"/>
                </a:solidFill>
                <a:latin typeface="Calibri Light"/>
              </a:rPr>
              <a:t>A discipline whose dev work has already been validated. For our project — Cytology.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2286000"/>
            <a:ext cx="11185855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606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C0441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9748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C0441F"/>
                </a:solidFill>
                <a:latin typeface="Calibri"/>
              </a:rPr>
              <a:t>MANDATORY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98648"/>
            <a:ext cx="28599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1A1A2E"/>
                </a:solidFill>
                <a:latin typeface="Cambria"/>
              </a:rPr>
              <a:t>Theme starter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354573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6878"/>
                </a:solidFill>
                <a:latin typeface="Calibri Light"/>
              </a:rPr>
              <a:t>The vocabulary of workflow categories the new discipline classifies its content against. Pre-Analytic, Analytic, Reporting, QC, Compliance,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2978" y="2606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C0441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8778" y="269748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C0441F"/>
                </a:solidFill>
                <a:latin typeface="Calibri"/>
              </a:rPr>
              <a:t>MANDATORY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8778" y="2898648"/>
            <a:ext cx="28599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1A1A2E"/>
                </a:solidFill>
                <a:latin typeface="Cambria"/>
              </a:rPr>
              <a:t>Epic starter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2978" y="3611880"/>
            <a:ext cx="354573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6878"/>
                </a:solidFill>
                <a:latin typeface="Calibri Light"/>
              </a:rPr>
              <a:t>The high-level dev groupings the new discipline's draft epics match against. Specimen Receiving, Reporting, Billing,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036" y="2606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B0A89B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8836" y="269748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B0A89B"/>
                </a:solidFill>
                <a:latin typeface="Calibri"/>
              </a:rPr>
              <a:t>OPTIONAL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8836" y="2898648"/>
            <a:ext cx="28599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1A1A2E"/>
                </a:solidFill>
                <a:latin typeface="Cambria"/>
              </a:rPr>
              <a:t>Story exemplars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3036" y="3611880"/>
            <a:ext cx="354573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A6878"/>
                </a:solidFill>
                <a:latin typeface="Calibri Light"/>
              </a:rPr>
              <a:t>Validated Jira stories with SOP citations — used as few-shot examples by the Story Extractor. Improves style fidelity. The system runs without these.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4937760"/>
            <a:ext cx="11185855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507492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WHAT'S NOT INHERITED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035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 Light"/>
              </a:rPr>
              <a:t>Tests   ·   Roles   ·   The new discipline's own SOPs   ·   Tasks (out of scope)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6072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0A89B"/>
                </a:solidFill>
                <a:latin typeface="Calibri Light"/>
              </a:rPr>
              <a:t>Sourcing.  Theme + epic catalogs are snapshotted from Cytology's existing Connect build. Quality-check thresholds use defaults tuned by first-run telemetry — no holdout calibration needed.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635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6583679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B0A89B"/>
                </a:solidFill>
                <a:latin typeface="Calibri Light"/>
              </a:rPr>
              <a:t>Lab Software Story Generation  ·  Client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4375" y="65836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0441F"/>
                </a:solidFill>
                <a:latin typeface="Cambria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441F"/>
                </a:solidFill>
                <a:latin typeface="Calibri"/>
              </a:rPr>
              <a:t>◗ </a:t>
            </a:r>
            <a:r>
              <a:rPr sz="1000" b="1" i="0" spc="150">
                <a:solidFill>
                  <a:srgbClr val="C0441F"/>
                </a:solidFill>
                <a:latin typeface="Calibri"/>
              </a:rPr>
              <a:t>THE 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1">
                <a:solidFill>
                  <a:srgbClr val="1A1A2E"/>
                </a:solidFill>
                <a:latin typeface="Cambria"/>
              </a:rPr>
              <a:t>Six agents do the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A6878"/>
                </a:solidFill>
                <a:latin typeface="Calibri Light"/>
              </a:rPr>
              <a:t>Plus a panel of 5 reviewers that vote in parallel when admitting new categories.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2103120"/>
            <a:ext cx="11185855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40487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0441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Theme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2377439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Builds the new discipline's theme catalog by classifying sample SOPs against the prior discipline's themes; new themes emerge only with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2423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C0441F"/>
                </a:solidFill>
                <a:latin typeface="Calibri Light"/>
              </a:rPr>
              <a:t>Once per new discipline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" y="2880360"/>
            <a:ext cx="11185855" cy="0"/>
          </a:xfrm>
          <a:prstGeom prst="line">
            <a:avLst/>
          </a:prstGeom>
          <a:ln w="508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297180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0441F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90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Epic Extractor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294436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Drafts high-level epics from each SOP; matches each draft against the prior discipline's epic catalog. Matches inherit; non-matches go to novelty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29900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C0441F"/>
                </a:solidFill>
                <a:latin typeface="Calibri Light"/>
              </a:rPr>
              <a:t>Per SOP + batch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3447288"/>
            <a:ext cx="11185855" cy="0"/>
          </a:xfrm>
          <a:prstGeom prst="line">
            <a:avLst/>
          </a:prstGeom>
          <a:ln w="508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353872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0441F"/>
                </a:solidFill>
                <a:latin typeface="Cambr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5570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Story Extractor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39" y="3511296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Drafts user stories from SOP chunks using schema, shape definitions, and closed-enum catalogs. Optionally retrieves examples from prior-discipline Jira.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35570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C0441F"/>
                </a:solidFill>
                <a:latin typeface="Calibri Light"/>
              </a:rPr>
              <a:t>Per epic, per SOP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4014216"/>
            <a:ext cx="11185855" cy="0"/>
          </a:xfrm>
          <a:prstGeom prst="line">
            <a:avLst/>
          </a:prstGeom>
          <a:ln w="508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" y="410565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0441F"/>
                </a:solidFill>
                <a:latin typeface="Cambr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239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Validator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4078224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Quality-checks every emitted story against shape-specific rules (MUST/SHALL for capabilities; concrete values for configurations; named artifact for cleanups). Failures auto-park.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412394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C0441F"/>
                </a:solidFill>
                <a:latin typeface="Calibri Light"/>
              </a:rPr>
              <a:t>Twice per story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4581144"/>
            <a:ext cx="11185855" cy="0"/>
          </a:xfrm>
          <a:prstGeom prst="line">
            <a:avLst/>
          </a:prstGeom>
          <a:ln w="508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4672583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0441F"/>
                </a:solidFill>
                <a:latin typeface="Cambr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69087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Cross-SOP Synthesis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39" y="4645151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After all SOPs are processed, finds patterns recurring across ≥ 2 SOPs and lifts them into broader "capability stories" with parameters.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90871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C0441F"/>
                </a:solidFill>
                <a:latin typeface="Calibri Light"/>
              </a:rPr>
              <a:t>Once per batch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5148072"/>
            <a:ext cx="11185855" cy="0"/>
          </a:xfrm>
          <a:prstGeom prst="line">
            <a:avLst/>
          </a:prstGeom>
          <a:ln w="508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523951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0441F"/>
                </a:solidFill>
                <a:latin typeface="Cambria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2578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Dependency Resolver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39" y="521208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Resolves dependencies between stories into a topological order — the ordered backlog the dev team consumes.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52578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C0441F"/>
                </a:solidFill>
                <a:latin typeface="Calibri Light"/>
              </a:rPr>
              <a:t>Once per batch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824727"/>
            <a:ext cx="11185855" cy="640080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916167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QUORUM PANEL — 5 REVIEWERS IN PARALLEL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117336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Used inside Theme Discovery and Epic Extractor when admitting new categories. Each reviewer asks a different question. Need 3 of 5 agreeing on the same action; their descriptions must be similar enough to count.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635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6583679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B0A89B"/>
                </a:solidFill>
                <a:latin typeface="Calibri Light"/>
              </a:rPr>
              <a:t>Lab Software Story Generation  ·  Client Alignment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74375" y="65836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0441F"/>
                </a:solidFill>
                <a:latin typeface="Cambria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441F"/>
                </a:solidFill>
                <a:latin typeface="Calibri"/>
              </a:rPr>
              <a:t>◗ </a:t>
            </a:r>
            <a:r>
              <a:rPr sz="1000" b="1" i="0" spc="150">
                <a:solidFill>
                  <a:srgbClr val="C0441F"/>
                </a:solidFill>
                <a:latin typeface="Calibri"/>
              </a:rPr>
              <a:t>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0" i="1">
                <a:solidFill>
                  <a:srgbClr val="1A1A2E"/>
                </a:solidFill>
                <a:latin typeface="Cambria"/>
              </a:rPr>
              <a:t>Three phases.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A6878"/>
                </a:solidFill>
                <a:latin typeface="Calibri Light"/>
              </a:rPr>
              <a:t>Setup once, run per SOP, combine across SOPs.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2240280"/>
            <a:ext cx="11185855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56032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1">
                <a:solidFill>
                  <a:srgbClr val="C0441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A2E"/>
                </a:solidFill>
                <a:latin typeface="Cambria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69079"/>
            <a:ext cx="348477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alibri Light"/>
              </a:rPr>
              <a:t>Build theme &amp; epic catalogs for the new discipline, conditioned on the prior.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983479"/>
            <a:ext cx="34847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C0441F"/>
                </a:solidFill>
                <a:latin typeface="Calibri"/>
              </a:rPr>
              <a:t>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6636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878"/>
                </a:solidFill>
                <a:latin typeface="Calibri Light"/>
              </a:rPr>
              <a:t>Theme Discovery, Epic Extractor, Quorum panel.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79"/>
            <a:ext cx="34847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C0441F"/>
                </a:solidFill>
                <a:latin typeface="Calibri"/>
              </a:rPr>
              <a:t>Cadence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5216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878"/>
                </a:solidFill>
                <a:latin typeface="Calibri Light"/>
              </a:rPr>
              <a:t>Once per new discipline (re-runs only on alarm).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70578" y="2651760"/>
            <a:ext cx="0" cy="365760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53458" y="256032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1">
                <a:solidFill>
                  <a:srgbClr val="C0441F"/>
                </a:solidFill>
                <a:latin typeface="Cambr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3458" y="356616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A2E"/>
                </a:solidFill>
                <a:latin typeface="Cambria"/>
              </a:rPr>
              <a:t>Per-SOP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3458" y="4069079"/>
            <a:ext cx="348477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alibri Light"/>
              </a:rPr>
              <a:t>Read each SOP, draft stories, quality-check.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3458" y="4983479"/>
            <a:ext cx="34847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C0441F"/>
                </a:solidFill>
                <a:latin typeface="Calibri"/>
              </a:rPr>
              <a:t>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3458" y="516636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878"/>
                </a:solidFill>
                <a:latin typeface="Calibri Light"/>
              </a:rPr>
              <a:t>Epic Extractor, Story Extractor, Validator.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3458" y="5669279"/>
            <a:ext cx="34847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C0441F"/>
                </a:solidFill>
                <a:latin typeface="Calibri"/>
              </a:rPr>
              <a:t>Cadence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3458" y="585216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878"/>
                </a:solidFill>
                <a:latin typeface="Calibri Light"/>
              </a:rPr>
              <a:t>Runs for every new SOP.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21116" y="2651760"/>
            <a:ext cx="0" cy="365760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03996" y="2560320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1">
                <a:solidFill>
                  <a:srgbClr val="C0441F"/>
                </a:solidFill>
                <a:latin typeface="Cambr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3996" y="356616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A2E"/>
                </a:solidFill>
                <a:latin typeface="Cambria"/>
              </a:rPr>
              <a:t>Combine + 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3996" y="4069079"/>
            <a:ext cx="348477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2E"/>
                </a:solidFill>
                <a:latin typeface="Calibri Light"/>
              </a:rPr>
              <a:t>Look across all SOPs, lift recurring patterns, generate outputs.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4983479"/>
            <a:ext cx="34847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C0441F"/>
                </a:solidFill>
                <a:latin typeface="Calibri"/>
              </a:rPr>
              <a:t>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516636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878"/>
                </a:solidFill>
                <a:latin typeface="Calibri Light"/>
              </a:rPr>
              <a:t>Cross-SOP Synthesis, Validator, Dependency Resolver.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3996" y="5669279"/>
            <a:ext cx="34847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C0441F"/>
                </a:solidFill>
                <a:latin typeface="Calibri"/>
              </a:rPr>
              <a:t>Cadence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3996" y="585216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878"/>
                </a:solidFill>
                <a:latin typeface="Calibri Light"/>
              </a:rPr>
              <a:t>Runs after a batch of SOPs is processed.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521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CONTINUOUS (ALONGSIDE ALL PHASES)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053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6878"/>
                </a:solidFill>
                <a:latin typeface="Calibri Light"/>
              </a:rPr>
              <a:t>Drift report   ·   alarm-driven re-runs when too many items go to the review pile.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635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6583679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B0A89B"/>
                </a:solidFill>
                <a:latin typeface="Calibri Light"/>
              </a:rPr>
              <a:t>Lab Software Story Generation  ·  Client Alignment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74375" y="65836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0441F"/>
                </a:solidFill>
                <a:latin typeface="Cambria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441F"/>
                </a:solidFill>
                <a:latin typeface="Calibri"/>
              </a:rPr>
              <a:t>◗ </a:t>
            </a:r>
            <a:r>
              <a:rPr sz="1000" b="1" i="0" spc="150">
                <a:solidFill>
                  <a:srgbClr val="C0441F"/>
                </a:solidFill>
                <a:latin typeface="Calibri"/>
              </a:rPr>
              <a:t>PHASE 1 —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1">
                <a:solidFill>
                  <a:srgbClr val="1A1A2E"/>
                </a:solidFill>
                <a:latin typeface="Cambria"/>
              </a:rPr>
              <a:t>Building the theme catalog.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A6878"/>
                </a:solidFill>
                <a:latin typeface="Calibri Light"/>
              </a:rPr>
              <a:t>Run once per new discipline. Result: a catalog mostly inherited from the prior + 0–N new themes (each with evidence).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2011680"/>
            <a:ext cx="11185855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1945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HOW IT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0441F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A2E"/>
                </a:solidFill>
                <a:latin typeface="Calibri Light"/>
              </a:rPr>
              <a:t>Read ~20 sample SOPs from the new discipline.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072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0441F"/>
                </a:solidFill>
                <a:latin typeface="Cambr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0720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A2E"/>
                </a:solidFill>
                <a:latin typeface="Calibri Light"/>
              </a:rPr>
              <a:t>Tag each chunk with stage, test, role.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912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0441F"/>
                </a:solidFill>
                <a:latin typeface="Cambr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A2E"/>
                </a:solidFill>
                <a:latin typeface="Calibri Light"/>
              </a:rPr>
              <a:t>Compare each chunk to the prior discipline's themes — match → inherit; no match → set aside as residual.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0441F"/>
                </a:solidFill>
                <a:latin typeface="Cambr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7530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A2E"/>
                </a:solidFill>
                <a:latin typeface="Calibri Light"/>
              </a:rPr>
              <a:t>Cluster the residual into novel-theme candidates.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5935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0441F"/>
                </a:solidFill>
                <a:latin typeface="Cambri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95935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A2E"/>
                </a:solidFill>
                <a:latin typeface="Calibri Light"/>
              </a:rPr>
              <a:t>Check inherited themes that have very little new-discipline evidence — candidates for dropping.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0441F"/>
                </a:solidFill>
                <a:latin typeface="Cambria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3434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A2E"/>
                </a:solidFill>
                <a:latin typeface="Calibri Light"/>
              </a:rPr>
              <a:t>5-reviewer quorum panel votes on each candidate (admit / merge / set aside).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274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0441F"/>
                </a:solidFill>
                <a:latin typeface="Cambria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2744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A2E"/>
                </a:solidFill>
                <a:latin typeface="Calibri Light"/>
              </a:rPr>
              <a:t>Result: new discipline's theme catalog (mostly inherited + 0–N new themes).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79" y="21945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PASS 1 — WHAT CAME 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2423160"/>
            <a:ext cx="4876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A2E"/>
                </a:solidFill>
                <a:latin typeface="Cambria"/>
              </a:rPr>
              <a:t>600 chunks classified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79" y="2971800"/>
            <a:ext cx="3023427" cy="548640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79" y="2697480"/>
            <a:ext cx="30234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5A6878"/>
                </a:solidFill>
                <a:latin typeface="Calibri"/>
              </a:rPr>
              <a:t>INHERITED FROM CYTOLOGY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79" y="30175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G1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32461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0441F"/>
                </a:solidFill>
                <a:latin typeface="Cambria"/>
              </a:rPr>
              <a:t>145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90208" y="3017520"/>
            <a:ext cx="0" cy="457200"/>
          </a:xfrm>
          <a:prstGeom prst="line">
            <a:avLst/>
          </a:prstGeom>
          <a:ln w="12700">
            <a:solidFill>
              <a:srgbClr val="FAF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90208" y="30175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G2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0208" y="32461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0441F"/>
                </a:solidFill>
                <a:latin typeface="Cambria"/>
              </a:rPr>
              <a:t>88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568136" y="3017520"/>
            <a:ext cx="0" cy="457200"/>
          </a:xfrm>
          <a:prstGeom prst="line">
            <a:avLst/>
          </a:prstGeom>
          <a:ln w="12700">
            <a:solidFill>
              <a:srgbClr val="FAF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568136" y="30175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G3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8136" y="32461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0441F"/>
                </a:solidFill>
                <a:latin typeface="Cambria"/>
              </a:rPr>
              <a:t>60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46065" y="3017520"/>
            <a:ext cx="0" cy="457200"/>
          </a:xfrm>
          <a:prstGeom prst="line">
            <a:avLst/>
          </a:prstGeom>
          <a:ln w="12700">
            <a:solidFill>
              <a:srgbClr val="FAF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946065" y="30175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G4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46065" y="32461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0441F"/>
                </a:solidFill>
                <a:latin typeface="Cambria"/>
              </a:rPr>
              <a:t>52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23993" y="3017520"/>
            <a:ext cx="0" cy="457200"/>
          </a:xfrm>
          <a:prstGeom prst="line">
            <a:avLst/>
          </a:prstGeom>
          <a:ln w="12700">
            <a:solidFill>
              <a:srgbClr val="FAF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323993" y="30175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G5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3993" y="32461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0441F"/>
                </a:solidFill>
                <a:latin typeface="Cambria"/>
              </a:rPr>
              <a:t>44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701921" y="3017520"/>
            <a:ext cx="0" cy="457200"/>
          </a:xfrm>
          <a:prstGeom prst="line">
            <a:avLst/>
          </a:prstGeom>
          <a:ln w="12700">
            <a:solidFill>
              <a:srgbClr val="FAF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701921" y="30175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G6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1921" y="32461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0441F"/>
                </a:solidFill>
                <a:latin typeface="Cambria"/>
              </a:rPr>
              <a:t>30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079850" y="3017520"/>
            <a:ext cx="0" cy="457200"/>
          </a:xfrm>
          <a:prstGeom prst="line">
            <a:avLst/>
          </a:prstGeom>
          <a:ln w="12700">
            <a:solidFill>
              <a:srgbClr val="FAF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079850" y="30175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G7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9850" y="32461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0441F"/>
                </a:solidFill>
                <a:latin typeface="Cambria"/>
              </a:rPr>
              <a:t>38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457778" y="3017520"/>
            <a:ext cx="0" cy="457200"/>
          </a:xfrm>
          <a:prstGeom prst="line">
            <a:avLst/>
          </a:prstGeom>
          <a:ln w="12700">
            <a:solidFill>
              <a:srgbClr val="FAF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457778" y="30175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  <a:latin typeface="Calibri"/>
              </a:rPr>
              <a:t>G8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57778" y="3246120"/>
            <a:ext cx="377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0441F"/>
                </a:solidFill>
                <a:latin typeface="Cambria"/>
              </a:rPr>
              <a:t>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79" y="3566160"/>
            <a:ext cx="30234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5A6878"/>
                </a:solidFill>
                <a:latin typeface="Calibri Light"/>
              </a:rPr>
              <a:t>477 chunks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64307" y="2971800"/>
            <a:ext cx="1624468" cy="548640"/>
          </a:xfrm>
          <a:prstGeom prst="rect">
            <a:avLst/>
          </a:prstGeom>
          <a:solidFill>
            <a:srgbClr val="F7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64307" y="2697480"/>
            <a:ext cx="16244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C0441F"/>
                </a:solidFill>
                <a:latin typeface="Calibri"/>
              </a:rPr>
              <a:t>RESIDUAL → PASS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64307" y="3017520"/>
            <a:ext cx="16244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6878"/>
                </a:solidFill>
                <a:latin typeface="Calibri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64307" y="3154680"/>
            <a:ext cx="16244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1">
                <a:solidFill>
                  <a:srgbClr val="C0441F"/>
                </a:solidFill>
                <a:latin typeface="Cambria"/>
              </a:rPr>
              <a:t>123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64307" y="3566160"/>
            <a:ext cx="16244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C0441F"/>
                </a:solidFill>
                <a:latin typeface="Calibri Light"/>
              </a:rPr>
              <a:t>feeds Pass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79" y="42519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OUTPUT — MICRO_V1 CATALOG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12279" y="4480560"/>
            <a:ext cx="4876495" cy="1188720"/>
          </a:xfrm>
          <a:prstGeom prst="rect">
            <a:avLst/>
          </a:prstGeom>
          <a:solidFill>
            <a:srgbClr val="F1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1A1A2E"/>
                </a:solidFill>
                <a:latin typeface="Consolas"/>
              </a:rPr>
              <a:t>inherited:  G1, G2, G3, G4, G5, G6, G7, G8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1A1A2E"/>
                </a:solidFill>
                <a:latin typeface="Consolas"/>
              </a:rPr>
              <a:t>admitted:   MI1 Susceptibility Testing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1A1A2E"/>
                </a:solidFill>
                <a:latin typeface="Consolas"/>
              </a:rPr>
              <a:t>            MI2 Biosafety Containment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1A1A2E"/>
                </a:solidFill>
                <a:latin typeface="Consolas"/>
              </a:rPr>
              <a:t>unclassified: 38 chunks (6.3%)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B0A89B"/>
                </a:solidFill>
                <a:latin typeface="Calibri Light"/>
              </a:rPr>
              <a:t>Pass 1 here is single-label — each chunk goes to its best-matching theme above τ_match=0.65 (or to residual). Runtime story / chunk theme tags are multi-label per D3 (themes are soft tags).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635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02920" y="6583679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B0A89B"/>
                </a:solidFill>
                <a:latin typeface="Calibri Light"/>
              </a:rPr>
              <a:t>Lab Software Story Generation  ·  Client Alignment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74375" y="65836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0441F"/>
                </a:solidFill>
                <a:latin typeface="Cambria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441F"/>
                </a:solidFill>
                <a:latin typeface="Calibri"/>
              </a:rPr>
              <a:t>◗ </a:t>
            </a:r>
            <a:r>
              <a:rPr sz="1000" b="1" i="0" spc="150">
                <a:solidFill>
                  <a:srgbClr val="C0441F"/>
                </a:solidFill>
                <a:latin typeface="Calibri"/>
              </a:rPr>
              <a:t>PHASE 2 — PER-SOP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1A1A2E"/>
                </a:solidFill>
                <a:latin typeface="Cambria"/>
              </a:rPr>
              <a:t>Each SOP goes through the same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A6878"/>
                </a:solidFill>
                <a:latin typeface="Calibri Light"/>
              </a:rPr>
              <a:t>N SOPs run in parallel — N independent pipeline instances.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2103120"/>
            <a:ext cx="11185855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2331720"/>
            <a:ext cx="5486400" cy="3931920"/>
          </a:xfrm>
          <a:prstGeom prst="rect">
            <a:avLst/>
          </a:prstGeom>
          <a:solidFill>
            <a:srgbClr val="F1ECE3"/>
          </a:solidFill>
          <a:ln w="12700">
            <a:solidFill>
              <a:srgbClr val="D4CCB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C0441F"/>
                </a:solidFill>
                <a:latin typeface="Calibri"/>
              </a:rPr>
              <a:t>ForEach SOP — N instances run in parallel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68880"/>
            <a:ext cx="4754880" cy="411480"/>
          </a:xfrm>
          <a:prstGeom prst="roundRect">
            <a:avLst/>
          </a:prstGeom>
          <a:solidFill>
            <a:srgbClr val="FAF7F0"/>
          </a:solidFill>
          <a:ln w="6350">
            <a:solidFill>
              <a:srgbClr val="D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SOP arrives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2898648"/>
            <a:ext cx="0" cy="128016"/>
          </a:xfrm>
          <a:prstGeom prst="line">
            <a:avLst/>
          </a:prstGeom>
          <a:ln w="12700">
            <a:solidFill>
              <a:srgbClr val="5A687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" y="2971800"/>
            <a:ext cx="4754880" cy="411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Tag chunks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3401568"/>
            <a:ext cx="0" cy="128016"/>
          </a:xfrm>
          <a:prstGeom prst="line">
            <a:avLst/>
          </a:prstGeom>
          <a:ln w="12700">
            <a:solidFill>
              <a:srgbClr val="5A687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8680" y="3474720"/>
            <a:ext cx="4754880" cy="411480"/>
          </a:xfrm>
          <a:prstGeom prst="roundRect">
            <a:avLst/>
          </a:prstGeom>
          <a:solidFill>
            <a:srgbClr val="F7E8C8"/>
          </a:solidFill>
          <a:ln w="6350">
            <a:solidFill>
              <a:srgbClr val="D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Epic Extractor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3904487"/>
            <a:ext cx="0" cy="128017"/>
          </a:xfrm>
          <a:prstGeom prst="line">
            <a:avLst/>
          </a:prstGeom>
          <a:ln w="12700">
            <a:solidFill>
              <a:srgbClr val="5A687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8680" y="3977640"/>
            <a:ext cx="4754880" cy="411480"/>
          </a:xfrm>
          <a:prstGeom prst="roundRect">
            <a:avLst/>
          </a:prstGeom>
          <a:solidFill>
            <a:srgbClr val="F7E8C8"/>
          </a:solidFill>
          <a:ln w="6350">
            <a:solidFill>
              <a:srgbClr val="D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Story Extractor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46120" y="4407408"/>
            <a:ext cx="0" cy="128016"/>
          </a:xfrm>
          <a:prstGeom prst="line">
            <a:avLst/>
          </a:prstGeom>
          <a:ln w="12700">
            <a:solidFill>
              <a:srgbClr val="5A687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" y="4480560"/>
            <a:ext cx="4754880" cy="411480"/>
          </a:xfrm>
          <a:prstGeom prst="roundRect">
            <a:avLst/>
          </a:prstGeom>
          <a:solidFill>
            <a:srgbClr val="F7E8C8"/>
          </a:solidFill>
          <a:ln w="6350">
            <a:solidFill>
              <a:srgbClr val="D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Validator</a:t>
            </a:r>
          </a:p>
        </p:txBody>
      </p:sp>
      <p:sp>
        <p:nvSpPr>
          <p:cNvPr id="18" name="Diamond 17"/>
          <p:cNvSpPr/>
          <p:nvPr/>
        </p:nvSpPr>
        <p:spPr>
          <a:xfrm>
            <a:off x="2514600" y="5001768"/>
            <a:ext cx="1463040" cy="411480"/>
          </a:xfrm>
          <a:prstGeom prst="diamond">
            <a:avLst/>
          </a:prstGeom>
          <a:solidFill>
            <a:srgbClr val="F7E8C8"/>
          </a:solidFill>
          <a:ln w="12700">
            <a:solidFill>
              <a:srgbClr val="C04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Pass quality?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504688"/>
            <a:ext cx="2615184" cy="292608"/>
          </a:xfrm>
          <a:prstGeom prst="roundRect">
            <a:avLst/>
          </a:prstGeom>
          <a:solidFill>
            <a:srgbClr val="FAF7F0"/>
          </a:solidFill>
          <a:ln w="9525">
            <a:solidFill>
              <a:srgbClr val="2D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2D5C3D"/>
                </a:solidFill>
                <a:latin typeface="Calibri"/>
              </a:rPr>
              <a:t>kept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66744" y="5504688"/>
            <a:ext cx="1956815" cy="292608"/>
          </a:xfrm>
          <a:prstGeom prst="roundRect">
            <a:avLst/>
          </a:prstGeom>
          <a:solidFill>
            <a:srgbClr val="FAF7F0"/>
          </a:solidFill>
          <a:ln w="9525">
            <a:solidFill>
              <a:srgbClr val="8B2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8B2E2A"/>
                </a:solidFill>
                <a:latin typeface="Calibri"/>
              </a:rPr>
              <a:t>park (revise ≤2)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24028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OUTPUT — A SINGLE 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468880"/>
            <a:ext cx="5333695" cy="2286000"/>
          </a:xfrm>
          <a:prstGeom prst="rect">
            <a:avLst/>
          </a:prstGeom>
          <a:solidFill>
            <a:srgbClr val="F1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1A1A2E"/>
                </a:solidFill>
                <a:latin typeface="Consolas"/>
              </a:rPr>
              <a:t>story: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1A1A2E"/>
                </a:solidFill>
                <a:latin typeface="Consolas"/>
              </a:rPr>
              <a:t>  shape:    capability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1A1A2E"/>
                </a:solidFill>
                <a:latin typeface="Consolas"/>
              </a:rPr>
              <a:t>  title:    "Validate received specimens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1A1A2E"/>
                </a:solidFill>
                <a:latin typeface="Consolas"/>
              </a:rPr>
              <a:t>             against open orders"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1A1A2E"/>
                </a:solidFill>
                <a:latin typeface="Consolas"/>
              </a:rPr>
              <a:t>  persona:  lims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1A1A2E"/>
                </a:solidFill>
                <a:latin typeface="Consolas"/>
              </a:rPr>
              <a:t>  stage:    accessioning_verification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1A1A2E"/>
                </a:solidFill>
                <a:latin typeface="Consolas"/>
              </a:rPr>
              <a:t>  tests:    [gram_stain, blood_culture]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1A1A2E"/>
                </a:solidFill>
                <a:latin typeface="Consolas"/>
              </a:rPr>
              <a:t>  AC: "When specimen received with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1A1A2E"/>
                </a:solidFill>
                <a:latin typeface="Consolas"/>
              </a:rPr>
              <a:t>       accession, system MUST match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1A1A2E"/>
                </a:solidFill>
                <a:latin typeface="Consolas"/>
              </a:rPr>
              <a:t>       against open order"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1A1A2E"/>
                </a:solidFill>
                <a:latin typeface="Consolas"/>
              </a:rPr>
              <a:t>  source:   SOP-MICRO-014, lines 23-31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>
                <a:solidFill>
                  <a:srgbClr val="1A1A2E"/>
                </a:solidFill>
                <a:latin typeface="Consolas"/>
              </a:rPr>
              <a:t>  quality:  passed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84632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THE 4 QUALITY RULES — ONE PER SHAPE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5074920"/>
            <a:ext cx="1264843" cy="201168"/>
          </a:xfrm>
          <a:prstGeom prst="rect">
            <a:avLst/>
          </a:prstGeom>
          <a:solidFill>
            <a:srgbClr val="E8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5093207"/>
            <a:ext cx="12648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Capability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21808"/>
            <a:ext cx="11734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5A6878"/>
                </a:solidFill>
                <a:latin typeface="Calibri Light"/>
              </a:rPr>
              <a:t>MUST/SHALL
+ params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11363" y="5074920"/>
            <a:ext cx="1264843" cy="201168"/>
          </a:xfrm>
          <a:prstGeom prst="rect">
            <a:avLst/>
          </a:prstGeom>
          <a:solidFill>
            <a:srgbClr val="E8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11363" y="5093207"/>
            <a:ext cx="12648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Stage-split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7083" y="5321808"/>
            <a:ext cx="11734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5A6878"/>
                </a:solidFill>
                <a:latin typeface="Calibri Light"/>
              </a:rPr>
              <a:t>Stage in title
+ siblings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67647" y="5074920"/>
            <a:ext cx="1264843" cy="201168"/>
          </a:xfrm>
          <a:prstGeom prst="rect">
            <a:avLst/>
          </a:prstGeom>
          <a:solidFill>
            <a:srgbClr val="E8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67647" y="5093207"/>
            <a:ext cx="12648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Config-instance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3367" y="5321808"/>
            <a:ext cx="11734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5A6878"/>
                </a:solidFill>
                <a:latin typeface="Calibri Light"/>
              </a:rPr>
              <a:t>Concrete typed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23931" y="5074920"/>
            <a:ext cx="1264843" cy="201168"/>
          </a:xfrm>
          <a:prstGeom prst="rect">
            <a:avLst/>
          </a:prstGeom>
          <a:solidFill>
            <a:srgbClr val="E8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3931" y="5093207"/>
            <a:ext cx="12648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Cleanup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651" y="5321808"/>
            <a:ext cx="11734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5A6878"/>
                </a:solidFill>
                <a:latin typeface="Calibri Light"/>
              </a:rPr>
              <a:t>Named artifact
+ before/after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635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2920" y="6583679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B0A89B"/>
                </a:solidFill>
                <a:latin typeface="Calibri Light"/>
              </a:rPr>
              <a:t>Lab Software Story Generation  ·  Client Alignment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74375" y="65836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0441F"/>
                </a:solidFill>
                <a:latin typeface="Cambria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441F"/>
                </a:solidFill>
                <a:latin typeface="Calibri"/>
              </a:rPr>
              <a:t>◗ </a:t>
            </a:r>
            <a:r>
              <a:rPr sz="1000" b="1" i="0" spc="150">
                <a:solidFill>
                  <a:srgbClr val="C0441F"/>
                </a:solidFill>
                <a:latin typeface="Calibri"/>
              </a:rPr>
              <a:t>PHASE 3 — COMBINE +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1">
                <a:solidFill>
                  <a:srgbClr val="1A1A2E"/>
                </a:solidFill>
                <a:latin typeface="Cambria"/>
              </a:rPr>
              <a:t>Patterns lift across SOPs.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A6878"/>
                </a:solidFill>
                <a:latin typeface="Calibri Light"/>
              </a:rPr>
              <a:t>Patterns recurring in ≥ 2 SOPs become broader "capability stories" with parameters.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2057400"/>
            <a:ext cx="11185855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24028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WHAT SYNTHESIS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0441F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Calibri Light"/>
              </a:rPr>
              <a:t>Look across all kept stories from all SOPs.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0441F"/>
                </a:solidFill>
                <a:latin typeface="Cambr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Calibri Light"/>
              </a:rPr>
              <a:t>Cluster on (test, role, stage, shape, behavior).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0441F"/>
                </a:solidFill>
                <a:latin typeface="Cambr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2900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Calibri Light"/>
              </a:rPr>
              <a:t>Patterns in ≥ 2 SOPs → lift to capability 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0441F"/>
                </a:solidFill>
                <a:latin typeface="Cambr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Calibri Light"/>
              </a:rPr>
              <a:t>Validator gate 2 on the lifted capability.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434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0441F"/>
                </a:solidFill>
                <a:latin typeface="Cambri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Calibri Light"/>
              </a:rPr>
              <a:t>Dependency Resolver → final ordered backlog.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2064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WORKED EXAMPLE — ≥ 2 SOPS LIFT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94959"/>
            <a:ext cx="1417320" cy="365760"/>
          </a:xfrm>
          <a:prstGeom prst="roundRect">
            <a:avLst/>
          </a:prstGeom>
          <a:solidFill>
            <a:srgbClr val="F1ECE3"/>
          </a:solidFill>
          <a:ln w="6350">
            <a:solidFill>
              <a:srgbClr val="D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Story · SOP-007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852159"/>
            <a:ext cx="1417320" cy="365760"/>
          </a:xfrm>
          <a:prstGeom prst="roundRect">
            <a:avLst/>
          </a:prstGeom>
          <a:solidFill>
            <a:srgbClr val="F1ECE3"/>
          </a:solidFill>
          <a:ln w="6350">
            <a:solidFill>
              <a:srgbClr val="D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Story · SOP-014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5577840"/>
            <a:ext cx="1554480" cy="548640"/>
          </a:xfrm>
          <a:prstGeom prst="roundRect">
            <a:avLst/>
          </a:prstGeom>
          <a:solidFill>
            <a:srgbClr val="F7E8C8"/>
          </a:solidFill>
          <a:ln w="9525">
            <a:solidFill>
              <a:srgbClr val="C04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C0441F"/>
                </a:solidFill>
                <a:latin typeface="Calibri"/>
              </a:rPr>
              <a:t>Cluster: ≥ 2 SOPs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5577840"/>
            <a:ext cx="1691639" cy="548640"/>
          </a:xfrm>
          <a:prstGeom prst="roundRect">
            <a:avLst/>
          </a:prstGeom>
          <a:solidFill>
            <a:srgbClr val="FAF7F0"/>
          </a:solidFill>
          <a:ln w="9525">
            <a:solidFill>
              <a:srgbClr val="2D5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 i="0">
                <a:solidFill>
                  <a:srgbClr val="2D5C3D"/>
                </a:solidFill>
                <a:latin typeface="Calibri"/>
              </a:rPr>
              <a:t>Capability story
+ parameters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38528" y="5577840"/>
            <a:ext cx="192024" cy="219456"/>
          </a:xfrm>
          <a:prstGeom prst="line">
            <a:avLst/>
          </a:prstGeom>
          <a:ln w="12700">
            <a:solidFill>
              <a:srgbClr val="5A687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938528" y="5907024"/>
            <a:ext cx="192024" cy="128016"/>
          </a:xfrm>
          <a:prstGeom prst="line">
            <a:avLst/>
          </a:prstGeom>
          <a:ln w="12700">
            <a:solidFill>
              <a:srgbClr val="5A687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21607" y="5852159"/>
            <a:ext cx="192025" cy="0"/>
          </a:xfrm>
          <a:prstGeom prst="line">
            <a:avLst/>
          </a:prstGeom>
          <a:ln w="19050">
            <a:solidFill>
              <a:srgbClr val="C0441F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89320" y="224028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CAPABILITY STORY 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468880"/>
            <a:ext cx="5699455" cy="3840480"/>
          </a:xfrm>
          <a:prstGeom prst="rect">
            <a:avLst/>
          </a:prstGeom>
          <a:solidFill>
            <a:srgbClr val="F1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capability_story: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id:        STORY-MICRO-CAP-0007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title:     "Configurable critical-result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            notification across tests"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parameters:                # what varies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  - test:           enum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  - threshold:      number+units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  - persona_owner:  supervisor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AC: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  - when:  "{test} flagged critical"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    then: "notify {persona_owner}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           within 1 hour"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child_stories:            # the concrete cases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  - STORY-MICRO-0023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  - STORY-MICRO-0041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  - STORY-MICRO-0089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source_sops: [SOP-014, SOP-019, SOP-022]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635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583679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B0A89B"/>
                </a:solidFill>
                <a:latin typeface="Calibri Light"/>
              </a:rPr>
              <a:t>Lab Software Story Generation  ·  Client Alignment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4375" y="65836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0441F"/>
                </a:solidFill>
                <a:latin typeface="Cambria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441F"/>
                </a:solidFill>
                <a:latin typeface="Calibri"/>
              </a:rPr>
              <a:t>◗ </a:t>
            </a:r>
            <a:r>
              <a:rPr sz="1000" b="1" i="0" spc="150">
                <a:solidFill>
                  <a:srgbClr val="C0441F"/>
                </a:solidFill>
                <a:latin typeface="Calibri"/>
              </a:rPr>
              <a:t>STORY SHAPES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1">
                <a:solidFill>
                  <a:srgbClr val="1A1A2E"/>
                </a:solidFill>
                <a:latin typeface="Cambria"/>
              </a:rPr>
              <a:t>Four shapes, one example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A6878"/>
                </a:solidFill>
                <a:latin typeface="Calibri Light"/>
              </a:rPr>
              <a:t>Different shapes have different rules. Examples show what makes each shape that shape.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2057400"/>
            <a:ext cx="11185855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2860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0441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1A1A2E"/>
                </a:solidFill>
                <a:latin typeface="Calibri"/>
              </a:rPr>
              <a:t>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54557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6878"/>
                </a:solidFill>
                <a:latin typeface="Calibri Light"/>
              </a:rPr>
              <a:t>MUST/SHALL  +  configurable parameters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2880360"/>
            <a:ext cx="5455767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02920" y="2971800"/>
            <a:ext cx="5455767" cy="1234440"/>
          </a:xfrm>
          <a:prstGeom prst="rect">
            <a:avLst/>
          </a:prstGeom>
          <a:solidFill>
            <a:srgbClr val="F1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title:    "Validate received specimens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       against open orders"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persona:  lims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stage:    accessioning_verification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tests:    [gram_stain, blood_culture]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AC: When specimen received with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accession, system MUST match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against open order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AC: When no match within 24h, system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MUST flag for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22860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0441F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7367" y="2331720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1A1A2E"/>
                </a:solidFill>
                <a:latin typeface="Calibri"/>
              </a:rPr>
              <a:t>WORKFLOW-STAGE-SPLIT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2606040"/>
            <a:ext cx="54557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6878"/>
                </a:solidFill>
                <a:latin typeface="Calibri Light"/>
              </a:rPr>
              <a:t>Stage in title  +  sibling stories enumerated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33007" y="2880360"/>
            <a:ext cx="5455768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33007" y="2971800"/>
            <a:ext cx="5455767" cy="1234440"/>
          </a:xfrm>
          <a:prstGeom prst="rect">
            <a:avLst/>
          </a:prstGeom>
          <a:solidFill>
            <a:srgbClr val="F1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title:    "PHI update — after results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       are reported"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persona:  supervisor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stage:    reporting_case_closure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AC: When PHI corrected on finalised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report, system MUST regenerate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with audit trail entry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cross_links: STORY-0076, STORY-0077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80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0441F"/>
                </a:solidFill>
                <a:latin typeface="Cambr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26280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1A1A2E"/>
                </a:solidFill>
                <a:latin typeface="Calibri"/>
              </a:rPr>
              <a:t>CONFIGURATION-INSTANCE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54557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6878"/>
                </a:solidFill>
                <a:latin typeface="Calibri Light"/>
              </a:rPr>
              <a:t>Concrete typed values  ·  no MUST/SHALL pretense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5074920"/>
            <a:ext cx="5455767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02920" y="5166360"/>
            <a:ext cx="5455767" cy="1234440"/>
          </a:xfrm>
          <a:prstGeom prst="rect">
            <a:avLst/>
          </a:prstGeom>
          <a:solidFill>
            <a:srgbClr val="F1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title:    "Blood culture incubation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       — bottle parameters"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tests:    [blood_culture_incubation]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persona:  null    stage: null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AC: When bottle received, configure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incubation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expected_value: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  temperature_c:    35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  duration_h:       120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  agitation_rpm:    220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3007" y="4480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0441F"/>
                </a:solidFill>
                <a:latin typeface="Cambr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7367" y="4526280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1A1A2E"/>
                </a:solidFill>
                <a:latin typeface="Calibri"/>
              </a:rPr>
              <a:t>CLEANUP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3007" y="4800600"/>
            <a:ext cx="54557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6878"/>
                </a:solidFill>
                <a:latin typeface="Calibri Light"/>
              </a:rPr>
              <a:t>Named artifact  +  before/after observable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33007" y="5074920"/>
            <a:ext cx="5455768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233007" y="5166360"/>
            <a:ext cx="5455767" cy="1234440"/>
          </a:xfrm>
          <a:prstGeom prst="rect">
            <a:avLst/>
          </a:prstGeom>
          <a:solidFill>
            <a:srgbClr val="F1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title:    "Remove obsolete 'Pending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       Pathologist Review' status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       from results screen"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persona:  null    stage: null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AC: When viewing the results screen,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the option MUST NOT appear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AC: When existing case has the status,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>
                <a:solidFill>
                  <a:srgbClr val="1A1A2E"/>
                </a:solidFill>
                <a:latin typeface="Consolas"/>
              </a:rPr>
              <a:t>    MUST migrate to 'Pending Review'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635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2920" y="6583679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B0A89B"/>
                </a:solidFill>
                <a:latin typeface="Calibri Light"/>
              </a:rPr>
              <a:t>Lab Software Story Generation  ·  Client 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4375" y="65836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0441F"/>
                </a:solidFill>
                <a:latin typeface="Cambria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441F"/>
                </a:solidFill>
                <a:latin typeface="Calibri"/>
              </a:rPr>
              <a:t>◗ </a:t>
            </a:r>
            <a:r>
              <a:rPr sz="1000" b="1" i="0" spc="150">
                <a:solidFill>
                  <a:srgbClr val="C0441F"/>
                </a:solidFill>
                <a:latin typeface="Calibri"/>
              </a:rPr>
              <a:t>TWO KEY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1">
                <a:solidFill>
                  <a:srgbClr val="1A1A2E"/>
                </a:solidFill>
                <a:latin typeface="Cambria"/>
              </a:rPr>
              <a:t>Inside the Validator and the Dependency Resolver.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A6878"/>
                </a:solidFill>
                <a:latin typeface="Calibri Light"/>
              </a:rPr>
              <a:t>What these two agents actually do — beyond the one-line description on slide 3.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2103120"/>
            <a:ext cx="11185855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28600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VALIDATOR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1A1A2E"/>
                </a:solidFill>
                <a:latin typeface="Cambria"/>
              </a:rPr>
              <a:t>Quality-checks every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0779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6878"/>
                </a:solidFill>
                <a:latin typeface="Calibri Light"/>
              </a:rPr>
              <a:t>Runs at gate 1 (after Story Extractor) and gate 2 (after Synthesis).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0441F"/>
                </a:solidFill>
                <a:latin typeface="Cambr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Calibri Light"/>
              </a:rPr>
              <a:t>Receives a draft 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216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0441F"/>
                </a:solidFill>
                <a:latin typeface="Cambr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2160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Calibri Light"/>
              </a:rPr>
              <a:t>Closed-enum check  (tests, persona, stage in catalog?)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056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0441F"/>
                </a:solidFill>
                <a:latin typeface="Cambr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05656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Calibri Light"/>
              </a:rPr>
              <a:t>Shape verification  (declared shape matches content?)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897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0441F"/>
                </a:solidFill>
                <a:latin typeface="Cambr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89704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2E"/>
                </a:solidFill>
                <a:latin typeface="Calibri Light"/>
              </a:rPr>
              <a:t>Apply shape-specific rubric  (4 rules — see slide 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651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0441F"/>
                </a:solidFill>
                <a:latin typeface="Cambria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83479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A2E"/>
                </a:solidFill>
                <a:latin typeface="Calibri"/>
              </a:rPr>
              <a:t>Pass?  </a:t>
            </a:r>
            <a:r>
              <a:rPr sz="1100" b="0" i="0">
                <a:solidFill>
                  <a:srgbClr val="2D5C3D"/>
                </a:solidFill>
                <a:latin typeface="Calibri Light"/>
              </a:rPr>
              <a:t>yes → kept (Output A)   ·   </a:t>
            </a:r>
            <a:r>
              <a:rPr sz="1100" b="0" i="0">
                <a:solidFill>
                  <a:srgbClr val="8B2E2A"/>
                </a:solidFill>
                <a:latin typeface="Calibri Light"/>
              </a:rPr>
              <a:t>no → revise (≤2) then auto-park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2286000"/>
            <a:ext cx="0" cy="393192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37960" y="228600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DEPENDENCY RESOLVER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468880"/>
            <a:ext cx="51508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1A1A2E"/>
                </a:solidFill>
                <a:latin typeface="Cambria"/>
              </a:rPr>
              <a:t>Sorts the backlog.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07792"/>
            <a:ext cx="51508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5A6878"/>
                </a:solidFill>
                <a:latin typeface="Calibri Light"/>
              </a:rPr>
              <a:t>Each story has dependencies[] and cross_links[]. The resolver builds a DAG and produces a topological order — a sprint-ready backlog.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79027" y="3611880"/>
            <a:ext cx="868680" cy="329184"/>
          </a:xfrm>
          <a:prstGeom prst="roundRect">
            <a:avLst/>
          </a:prstGeom>
          <a:solidFill>
            <a:srgbClr val="F1ECE3"/>
          </a:solidFill>
          <a:ln w="6350">
            <a:solidFill>
              <a:srgbClr val="D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4215384"/>
            <a:ext cx="868680" cy="329184"/>
          </a:xfrm>
          <a:prstGeom prst="roundRect">
            <a:avLst/>
          </a:prstGeom>
          <a:solidFill>
            <a:srgbClr val="F1ECE3"/>
          </a:solidFill>
          <a:ln w="6350">
            <a:solidFill>
              <a:srgbClr val="D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54335" y="4215384"/>
            <a:ext cx="868680" cy="329184"/>
          </a:xfrm>
          <a:prstGeom prst="roundRect">
            <a:avLst/>
          </a:prstGeom>
          <a:solidFill>
            <a:srgbClr val="F1ECE3"/>
          </a:solidFill>
          <a:ln w="6350">
            <a:solidFill>
              <a:srgbClr val="D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9027" y="4818888"/>
            <a:ext cx="868680" cy="329184"/>
          </a:xfrm>
          <a:prstGeom prst="roundRect">
            <a:avLst/>
          </a:prstGeom>
          <a:solidFill>
            <a:srgbClr val="F1ECE3"/>
          </a:solidFill>
          <a:ln w="6350">
            <a:solidFill>
              <a:srgbClr val="D4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338060" y="3941064"/>
            <a:ext cx="1775307" cy="274320"/>
          </a:xfrm>
          <a:prstGeom prst="line">
            <a:avLst/>
          </a:prstGeom>
          <a:ln w="10160">
            <a:solidFill>
              <a:srgbClr val="5A687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113367" y="3941064"/>
            <a:ext cx="1775308" cy="274320"/>
          </a:xfrm>
          <a:prstGeom prst="line">
            <a:avLst/>
          </a:prstGeom>
          <a:ln w="10160">
            <a:solidFill>
              <a:srgbClr val="5A687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38060" y="4544568"/>
            <a:ext cx="1775307" cy="274320"/>
          </a:xfrm>
          <a:prstGeom prst="line">
            <a:avLst/>
          </a:prstGeom>
          <a:ln w="10160">
            <a:solidFill>
              <a:srgbClr val="5A687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113367" y="4544568"/>
            <a:ext cx="1775308" cy="274320"/>
          </a:xfrm>
          <a:prstGeom prst="line">
            <a:avLst/>
          </a:prstGeom>
          <a:ln w="10160">
            <a:solidFill>
              <a:srgbClr val="5A687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537960" y="5422392"/>
            <a:ext cx="5150815" cy="320040"/>
          </a:xfrm>
          <a:prstGeom prst="rect">
            <a:avLst/>
          </a:prstGeom>
          <a:solidFill>
            <a:srgbClr val="F7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5468112"/>
            <a:ext cx="51508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0441F"/>
                </a:solidFill>
                <a:latin typeface="Calibri"/>
              </a:rPr>
              <a:t>Output:   1. A   →   2. B   →   3. C   →   4. 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635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583679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B0A89B"/>
                </a:solidFill>
                <a:latin typeface="Calibri Light"/>
              </a:rPr>
              <a:t>Lab Software Story Generation  ·  Client Alignment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74375" y="65836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0441F"/>
                </a:solidFill>
                <a:latin typeface="Cambria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441F"/>
                </a:solidFill>
                <a:latin typeface="Calibri"/>
              </a:rPr>
              <a:t>◗ </a:t>
            </a:r>
            <a:r>
              <a:rPr sz="1000" b="1" i="0" spc="150">
                <a:solidFill>
                  <a:srgbClr val="C0441F"/>
                </a:solidFill>
                <a:latin typeface="Calibri"/>
              </a:rPr>
              <a:t>VALIDATOR AT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1">
                <a:solidFill>
                  <a:srgbClr val="1A1A2E"/>
                </a:solidFill>
                <a:latin typeface="Cambria"/>
              </a:rPr>
              <a:t>A sample story, checked twice.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A6878"/>
                </a:solidFill>
                <a:latin typeface="Calibri Light"/>
              </a:rPr>
              <a:t>Failure on attempt 01 — pass on revise (attempt 02).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2057400"/>
            <a:ext cx="11185855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33172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8B2E2A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8B2E2A"/>
                </a:solidFill>
                <a:latin typeface="Calibri"/>
              </a:rPr>
              <a:t>ATTEMPT 1   </a:t>
            </a:r>
            <a:r>
              <a:rPr sz="1100" b="0" i="1">
                <a:solidFill>
                  <a:srgbClr val="5A6878"/>
                </a:solidFill>
                <a:latin typeface="Calibri Light"/>
              </a:rPr>
              <a:t>draft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834639"/>
            <a:ext cx="5410047" cy="0"/>
          </a:xfrm>
          <a:prstGeom prst="line">
            <a:avLst/>
          </a:prstGeom>
          <a:ln w="12700">
            <a:solidFill>
              <a:srgbClr val="8B2E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2920" y="2971800"/>
            <a:ext cx="5410047" cy="1417320"/>
          </a:xfrm>
          <a:prstGeom prst="rect">
            <a:avLst/>
          </a:prstGeom>
          <a:solidFill>
            <a:srgbClr val="F1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story (draft):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shape:    capability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title:    "Validate accession appropriately"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AC: "When specimen received, system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     MUST validate appropriately"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source:   SOP-MICRO-014, lines 23-31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26279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VALIDATOR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82312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D5C3D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09744"/>
            <a:ext cx="50900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1. Closed-enum check passes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038344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D5C3D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65776"/>
            <a:ext cx="50900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2. Shape verification passes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94375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8B2E2A"/>
                </a:solidFill>
                <a:latin typeface="Calibri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21807"/>
            <a:ext cx="50900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3. Shape rubric — 'appropriately' is ambiguous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41847"/>
            <a:ext cx="5410047" cy="365760"/>
          </a:xfrm>
          <a:prstGeom prst="rect">
            <a:avLst/>
          </a:prstGeom>
          <a:solidFill>
            <a:srgbClr val="F7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714999"/>
            <a:ext cx="541004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8B2E2A"/>
                </a:solidFill>
                <a:latin typeface="Calibri"/>
              </a:rPr>
              <a:t>→ Revise (1 of 2) — Story Extractor reworks the 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33172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2D5C3D"/>
                </a:solidFill>
                <a:latin typeface="Cambria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3087" y="2423160"/>
            <a:ext cx="4815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2D5C3D"/>
                </a:solidFill>
                <a:latin typeface="Calibri"/>
              </a:rPr>
              <a:t>ATTEMPT 2   </a:t>
            </a:r>
            <a:r>
              <a:rPr sz="1100" b="0" i="1">
                <a:solidFill>
                  <a:srgbClr val="5A6878"/>
                </a:solidFill>
                <a:latin typeface="Calibri Light"/>
              </a:rPr>
              <a:t>revised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78727" y="2834639"/>
            <a:ext cx="5410048" cy="0"/>
          </a:xfrm>
          <a:prstGeom prst="line">
            <a:avLst/>
          </a:prstGeom>
          <a:ln w="12700">
            <a:solidFill>
              <a:srgbClr val="2D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278727" y="2971800"/>
            <a:ext cx="5410047" cy="1417320"/>
          </a:xfrm>
          <a:prstGeom prst="rect">
            <a:avLst/>
          </a:prstGeom>
          <a:solidFill>
            <a:srgbClr val="F1E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story (revised):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shape:    capability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title:    "Validate accession against open order"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AC: "When specimen received with accession,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     system MUST match against open order;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     if no match within 24h, MUST flag for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     accessioning review"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>
                <a:solidFill>
                  <a:srgbClr val="1A1A2E"/>
                </a:solidFill>
                <a:latin typeface="Consolas"/>
              </a:rPr>
              <a:t>  source:   SOP-MICRO-014, lines 23-31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4526279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VALIDATOR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727" y="4800599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D5C3D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8767" y="4828031"/>
            <a:ext cx="50900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1. Closed-enum check passes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8727" y="5093207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D5C3D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8767" y="5120640"/>
            <a:ext cx="50900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2. Shape verification passes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8727" y="5385815"/>
            <a:ext cx="274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D5C3D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8767" y="5413247"/>
            <a:ext cx="50900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 Light"/>
              </a:rPr>
              <a:t>3. Shape rubric — concrete, observable, parameterized (24h)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8727" y="5641847"/>
            <a:ext cx="5410047" cy="365760"/>
          </a:xfrm>
          <a:prstGeom prst="rect">
            <a:avLst/>
          </a:prstGeom>
          <a:solidFill>
            <a:srgbClr val="F7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8727" y="5714999"/>
            <a:ext cx="541004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D5C3D"/>
                </a:solidFill>
                <a:latin typeface="Calibri"/>
              </a:rPr>
              <a:t>→ Story kept (validated) → Output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099047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B0A89B"/>
                </a:solidFill>
                <a:latin typeface="Calibri Light"/>
              </a:rPr>
              <a:t>Closed-enum violations (e.g. invalid persona) hard-reject without entering the revise loop. Only shape/AC issues consume revisions. Failures after 2 revisions auto-park (slide 11).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635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583679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B0A89B"/>
                </a:solidFill>
                <a:latin typeface="Calibri Light"/>
              </a:rPr>
              <a:t>Lab Software Story Generation  ·  Client Alignment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74375" y="65836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0441F"/>
                </a:solidFill>
                <a:latin typeface="Cambria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441F"/>
                </a:solidFill>
                <a:latin typeface="Calibri"/>
              </a:rPr>
              <a:t>◗ </a:t>
            </a:r>
            <a:r>
              <a:rPr sz="1000" b="1" i="0" spc="150">
                <a:solidFill>
                  <a:srgbClr val="C0441F"/>
                </a:solidFill>
                <a:latin typeface="Calibri"/>
              </a:rPr>
              <a:t>FAILURE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1">
                <a:solidFill>
                  <a:srgbClr val="1A1A2E"/>
                </a:solidFill>
                <a:latin typeface="Cambria"/>
              </a:rPr>
              <a:t>What happens when something fails.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A6878"/>
                </a:solidFill>
                <a:latin typeface="Calibri Light"/>
              </a:rPr>
              <a:t>Failures at three levels — each has a deterministic fallback. No human intervention at runtime.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2194560"/>
            <a:ext cx="11185855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423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0441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29513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Per-call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29513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 spc="100">
                <a:solidFill>
                  <a:srgbClr val="5A6878"/>
                </a:solidFill>
                <a:latin typeface="Calibri Light"/>
              </a:rPr>
              <a:t>LLM error or timeout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3108960"/>
            <a:ext cx="3545738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3246120"/>
            <a:ext cx="35457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C0441F"/>
                </a:solidFill>
                <a:latin typeface="Calibri"/>
              </a:rPr>
              <a:t>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47288"/>
            <a:ext cx="35457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Retry with exponential backoff (3 attempts).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23359"/>
            <a:ext cx="35457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C0441F"/>
                </a:solidFill>
                <a:latin typeface="Calibri"/>
              </a:rPr>
              <a:t>IF PERSISTENT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24527"/>
            <a:ext cx="35457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If persistent, defer the item to the next batch; log to audit.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00600"/>
            <a:ext cx="35457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C0441F"/>
                </a:solidFill>
                <a:latin typeface="Calibri"/>
              </a:rPr>
              <a:t>PIPELINE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01768"/>
            <a:ext cx="35457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Other items continue. No block.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85818" y="2514600"/>
            <a:ext cx="0" cy="2926079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22978" y="2423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0441F"/>
                </a:solidFill>
                <a:latin typeface="Cambr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7338" y="2514600"/>
            <a:ext cx="29513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Per-story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7338" y="2788920"/>
            <a:ext cx="29513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 spc="100">
                <a:solidFill>
                  <a:srgbClr val="5A6878"/>
                </a:solidFill>
                <a:latin typeface="Calibri Light"/>
              </a:rPr>
              <a:t>Quality check fails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22978" y="3108960"/>
            <a:ext cx="3545738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22978" y="3246120"/>
            <a:ext cx="35457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C0441F"/>
                </a:solidFill>
                <a:latin typeface="Calibri"/>
              </a:rPr>
              <a:t>FALLBACK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2978" y="3447288"/>
            <a:ext cx="35457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Up to 2 revision attempts; the Validator drives revisions with the failed-checks list.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2978" y="4023359"/>
            <a:ext cx="35457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C0441F"/>
                </a:solidFill>
                <a:latin typeface="Calibri"/>
              </a:rPr>
              <a:t>IF PERSISTENT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2978" y="4224527"/>
            <a:ext cx="35457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If still failing, auto-park to the review pile (excluded from Output A in strict mode).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2978" y="4800600"/>
            <a:ext cx="35457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C0441F"/>
                </a:solidFill>
                <a:latin typeface="Calibri"/>
              </a:rPr>
              <a:t>PIPELINE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2978" y="5001768"/>
            <a:ext cx="35457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Subsequent stories continue. No block.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05876" y="2514600"/>
            <a:ext cx="0" cy="2926079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143036" y="2423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0441F"/>
                </a:solidFill>
                <a:latin typeface="Cambria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7396" y="2514600"/>
            <a:ext cx="29513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Per-batch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7396" y="2788920"/>
            <a:ext cx="295137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 spc="100">
                <a:solidFill>
                  <a:srgbClr val="5A6878"/>
                </a:solidFill>
                <a:latin typeface="Calibri Light"/>
              </a:rPr>
              <a:t>Drift / catalog issues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43036" y="3108960"/>
            <a:ext cx="3545739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143036" y="3246120"/>
            <a:ext cx="35457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C0441F"/>
                </a:solidFill>
                <a:latin typeface="Calibri"/>
              </a:rPr>
              <a:t>FALLBACK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3036" y="3447288"/>
            <a:ext cx="35457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Auto-rerun discovery with τ_match −0.05 (more permissive); re-cluster G0; quorum re-evaluates.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3036" y="4023359"/>
            <a:ext cx="35457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C0441F"/>
                </a:solidFill>
                <a:latin typeface="Calibri"/>
              </a:rPr>
              <a:t>IF PERSISTENT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3036" y="4224527"/>
            <a:ext cx="35457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If τ_match floor (0.50) hit, drift report flags for manual catalog re-curation.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43036" y="4800600"/>
            <a:ext cx="354573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50">
                <a:solidFill>
                  <a:srgbClr val="C0441F"/>
                </a:solidFill>
                <a:latin typeface="Calibri"/>
              </a:rPr>
              <a:t>PIPELINE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3036" y="5001768"/>
            <a:ext cx="35457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Pipeline continues. Drift report is informational.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71500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THREE QUEUES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943600"/>
            <a:ext cx="36066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A2E"/>
                </a:solidFill>
                <a:latin typeface="Calibri"/>
              </a:rPr>
              <a:t>Review pile  </a:t>
            </a:r>
            <a:r>
              <a:rPr sz="1000" b="0" i="1">
                <a:solidFill>
                  <a:srgbClr val="5A6878"/>
                </a:solidFill>
                <a:latin typeface="Calibri Light"/>
              </a:rPr>
              <a:t>quality / rubric failures (parked stories)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2498" y="5943600"/>
            <a:ext cx="36066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A2E"/>
                </a:solidFill>
                <a:latin typeface="Calibri"/>
              </a:rPr>
              <a:t>G0 / E0 buckets  </a:t>
            </a:r>
            <a:r>
              <a:rPr sz="1000" b="0" i="1">
                <a:solidFill>
                  <a:srgbClr val="5A6878"/>
                </a:solidFill>
                <a:latin typeface="Calibri Light"/>
              </a:rPr>
              <a:t>classification failures (low-confidence chunks/drafts)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82076" y="5943600"/>
            <a:ext cx="360669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A2E"/>
                </a:solidFill>
                <a:latin typeface="Calibri"/>
              </a:rPr>
              <a:t>Audit trail  </a:t>
            </a:r>
            <a:r>
              <a:rPr sz="1000" b="0" i="1">
                <a:solidFill>
                  <a:srgbClr val="5A6878"/>
                </a:solidFill>
                <a:latin typeface="Calibri Light"/>
              </a:rPr>
              <a:t>LLM-call failures after retry exhaustion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635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583679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B0A89B"/>
                </a:solidFill>
                <a:latin typeface="Calibri Light"/>
              </a:rPr>
              <a:t>Lab Software Story Generation  ·  Client Alignment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74375" y="65836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0441F"/>
                </a:solidFill>
                <a:latin typeface="Cambria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0441F"/>
                </a:solidFill>
                <a:latin typeface="Calibri"/>
              </a:rPr>
              <a:t>◗ </a:t>
            </a:r>
            <a:r>
              <a:rPr sz="1000" b="1" i="0" spc="150">
                <a:solidFill>
                  <a:srgbClr val="C0441F"/>
                </a:solidFill>
                <a:latin typeface="Calibri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0" i="1">
                <a:solidFill>
                  <a:srgbClr val="1A1A2E"/>
                </a:solidFill>
                <a:latin typeface="Cambria"/>
              </a:rPr>
              <a:t>What ships, and what we need.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A6878"/>
                </a:solidFill>
                <a:latin typeface="Calibri Light"/>
              </a:rPr>
              <a:t>Three deliverables per discipline. The test catalog and sample SOPs are the only blocking inputs.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2103120"/>
            <a:ext cx="11185855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05740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WHAT SHIPS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3545738" cy="1097280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31799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A1A2E"/>
                </a:solidFill>
                <a:latin typeface="Cambria"/>
              </a:rPr>
              <a:t>Jira backlog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1799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Epics + Stories. Ready for the dev team. Includes traceability to source SOPs.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2978" y="2286000"/>
            <a:ext cx="3545738" cy="1097280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5858" y="2423160"/>
            <a:ext cx="31799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A1A2E"/>
                </a:solidFill>
                <a:latin typeface="Cambria"/>
              </a:rPr>
              <a:t>Configuration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5858" y="2788920"/>
            <a:ext cx="31799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Per-test settings (e.g. blood culture parameters). Deterministic structure per discipline.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3036" y="2286000"/>
            <a:ext cx="3545738" cy="1097280"/>
          </a:xfrm>
          <a:prstGeom prst="rect">
            <a:avLst/>
          </a:prstGeom>
          <a:solidFill>
            <a:srgbClr val="F1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5916" y="2423160"/>
            <a:ext cx="31799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A1A2E"/>
                </a:solidFill>
                <a:latin typeface="Cambria"/>
              </a:rPr>
              <a:t>Reference +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5916" y="2788920"/>
            <a:ext cx="31799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A6878"/>
                </a:solidFill>
                <a:latin typeface="Calibri Light"/>
              </a:rPr>
              <a:t>Theme + epic catalogs, ANALOGY map, review pile, decision log.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7472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C0441F"/>
                </a:solidFill>
                <a:latin typeface="Calibri"/>
              </a:rPr>
              <a:t>INPUTS TO THE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03320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D5C3D"/>
                </a:solidFill>
                <a:latin typeface="Calibri"/>
              </a:rPr>
              <a:t>Already captured 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77639"/>
            <a:ext cx="36066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6878"/>
                </a:solidFill>
                <a:latin typeface="Calibri Light"/>
              </a:rPr>
              <a:t>from your project documentation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4251959"/>
            <a:ext cx="3606698" cy="0"/>
          </a:xfrm>
          <a:prstGeom prst="line">
            <a:avLst/>
          </a:prstGeom>
          <a:ln w="9525">
            <a:solidFill>
              <a:srgbClr val="2D5C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4389120"/>
            <a:ext cx="3606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D5C3D"/>
                </a:solidFill>
                <a:latin typeface="Calibri"/>
              </a:rPr>
              <a:t>·  </a:t>
            </a:r>
            <a:r>
              <a:rPr sz="1000" b="0" i="0">
                <a:solidFill>
                  <a:srgbClr val="1A1A2E"/>
                </a:solidFill>
                <a:latin typeface="Calibri Light"/>
              </a:rPr>
              <a:t>Persona catalog  —  from the Roles &amp; Process Map 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73168"/>
            <a:ext cx="3606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D5C3D"/>
                </a:solidFill>
                <a:latin typeface="Calibri"/>
              </a:rPr>
              <a:t>·  </a:t>
            </a:r>
            <a:r>
              <a:rPr sz="1000" b="0" i="0">
                <a:solidFill>
                  <a:srgbClr val="1A1A2E"/>
                </a:solidFill>
                <a:latin typeface="Calibri Light"/>
              </a:rPr>
              <a:t>Universal 6-stage enum  —  from the Process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57216"/>
            <a:ext cx="3606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D5C3D"/>
                </a:solidFill>
                <a:latin typeface="Calibri"/>
              </a:rPr>
              <a:t>·  </a:t>
            </a:r>
            <a:r>
              <a:rPr sz="1000" b="0" i="0">
                <a:solidFill>
                  <a:srgbClr val="1A1A2E"/>
                </a:solidFill>
                <a:latin typeface="Calibri Light"/>
              </a:rPr>
              <a:t>ANALOGY persona_links  —  from the cross-discipline role inventory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2498" y="3703320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A6878"/>
                </a:solidFill>
                <a:latin typeface="Calibri"/>
              </a:rPr>
              <a:t>From the seminal prior 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2498" y="3977639"/>
            <a:ext cx="36066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6878"/>
                </a:solidFill>
                <a:latin typeface="Calibri Light"/>
              </a:rPr>
              <a:t>snapshotted from Cytology's Connect build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92498" y="4251959"/>
            <a:ext cx="3606698" cy="0"/>
          </a:xfrm>
          <a:prstGeom prst="line">
            <a:avLst/>
          </a:prstGeom>
          <a:ln w="9525">
            <a:solidFill>
              <a:srgbClr val="5A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92498" y="4389120"/>
            <a:ext cx="3606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5A6878"/>
                </a:solidFill>
                <a:latin typeface="Calibri"/>
              </a:rPr>
              <a:t>·  </a:t>
            </a:r>
            <a:r>
              <a:rPr sz="1000" b="0" i="0">
                <a:solidFill>
                  <a:srgbClr val="1A1A2E"/>
                </a:solidFill>
                <a:latin typeface="Calibri Light"/>
              </a:rPr>
              <a:t>Theme catalog (cyto_v1)  —  warm-start prior for Theme 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2498" y="4773168"/>
            <a:ext cx="3606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5A6878"/>
                </a:solidFill>
                <a:latin typeface="Calibri"/>
              </a:rPr>
              <a:t>·  </a:t>
            </a:r>
            <a:r>
              <a:rPr sz="1000" b="0" i="0">
                <a:solidFill>
                  <a:srgbClr val="1A1A2E"/>
                </a:solidFill>
                <a:latin typeface="Calibri Light"/>
              </a:rPr>
              <a:t>Epic catalog (cyto_epic_v1)  —  used by the conditioned Epic Extractor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2076" y="3703320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0441F"/>
                </a:solidFill>
                <a:latin typeface="Calibri"/>
              </a:rPr>
              <a:t>Still needed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2076" y="3977639"/>
            <a:ext cx="36066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6878"/>
                </a:solidFill>
                <a:latin typeface="Calibri Light"/>
              </a:rPr>
              <a:t>the only blocking inputs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082076" y="4251959"/>
            <a:ext cx="3606699" cy="0"/>
          </a:xfrm>
          <a:prstGeom prst="line">
            <a:avLst/>
          </a:prstGeom>
          <a:ln w="9525">
            <a:solidFill>
              <a:srgbClr val="C04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082076" y="4389120"/>
            <a:ext cx="3606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0441F"/>
                </a:solidFill>
                <a:latin typeface="Calibri"/>
              </a:rPr>
              <a:t>·  </a:t>
            </a:r>
            <a:r>
              <a:rPr sz="1000" b="0" i="0">
                <a:solidFill>
                  <a:srgbClr val="1A1A2E"/>
                </a:solidFill>
                <a:latin typeface="Calibri Light"/>
              </a:rPr>
              <a:t>Test catalog (micro_test_v1.yaml)  —  list of in-scope Microbiology tests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2076" y="4773168"/>
            <a:ext cx="36066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0441F"/>
                </a:solidFill>
                <a:latin typeface="Calibri"/>
              </a:rPr>
              <a:t>·  </a:t>
            </a:r>
            <a:r>
              <a:rPr sz="1000" b="0" i="0">
                <a:solidFill>
                  <a:srgbClr val="1A1A2E"/>
                </a:solidFill>
                <a:latin typeface="Calibri Light"/>
              </a:rPr>
              <a:t>Sample SOPs  (~20 representative procedure documents)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669280"/>
            <a:ext cx="11185855" cy="502920"/>
          </a:xfrm>
          <a:prstGeom prst="rect">
            <a:avLst/>
          </a:prstGeom>
          <a:solidFill>
            <a:srgbClr val="F7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7881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C0441F"/>
                </a:solidFill>
                <a:latin typeface="Cambria"/>
              </a:rPr>
              <a:t>Alignment ask:  the test catalog + sample SOPs are the gating inputs. Everything else is in hand. Confirm?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492240"/>
            <a:ext cx="11185855" cy="0"/>
          </a:xfrm>
          <a:prstGeom prst="line">
            <a:avLst/>
          </a:prstGeom>
          <a:ln w="6350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2920" y="6583679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B0A89B"/>
                </a:solidFill>
                <a:latin typeface="Calibri Light"/>
              </a:rPr>
              <a:t>Lab Software Story Generation  ·  Client Alignment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74375" y="65836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1">
                <a:solidFill>
                  <a:srgbClr val="C0441F"/>
                </a:solidFill>
                <a:latin typeface="Cambria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