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What we are building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F2D3D"/>
                </a:solidFill>
                <a:latin typeface="Calibri"/>
              </a:rPr>
              <a:t>A system that turns SOPs (Standard Operating Procedures) into a ready-to-use backlog of dev work — without an expert reviewing each item.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108960" cy="1280160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F2D3D"/>
                </a:solidFill>
                <a:latin typeface="Calibri"/>
              </a:rPr>
              <a:t>SOPs
(Standard Operating Procedures)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828800"/>
            <a:ext cx="3108960" cy="128016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1F2D3D"/>
                </a:solidFill>
                <a:latin typeface="Calibri"/>
              </a:rPr>
              <a:t>Our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828800"/>
            <a:ext cx="3108960" cy="1280160"/>
          </a:xfrm>
          <a:prstGeom prst="roundRect">
            <a:avLst/>
          </a:prstGeom>
          <a:solidFill>
            <a:srgbClr val="DCE9D7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F2D3D"/>
                </a:solidFill>
                <a:latin typeface="Calibri"/>
              </a:rPr>
              <a:t>Dev backlog
(Jira: Epics + Stories)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03320" y="2468880"/>
            <a:ext cx="777240" cy="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2468880"/>
            <a:ext cx="777240" cy="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26280" y="32004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55606E"/>
                </a:solidFill>
                <a:latin typeface="Calibri"/>
              </a:rPr>
              <a:t>Plus: configuration files + audit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Why this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>
                <a:solidFill>
                  <a:srgbClr val="1F2D3D"/>
                </a:solidFill>
                <a:latin typeface="Calibri"/>
              </a:rPr>
              <a:t>•  Today: every new SOP → manual expert review → hand-written stories. Slow, costly, inconsistent.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1F2D3D"/>
                </a:solidFill>
                <a:latin typeface="Calibri"/>
              </a:rPr>
              <a:t>•  With this system: SOPs in, structured stories out. Quality is built into the rules, not into one expert's review.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1F2D3D"/>
                </a:solidFill>
                <a:latin typeface="Calibri"/>
              </a:rPr>
              <a:t>•  Same system, any clinical discipline. Each new discipline is a configuration change, not an engineering project.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97880"/>
            <a:ext cx="11430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1">
                <a:solidFill>
                  <a:srgbClr val="1F4E79"/>
                </a:solidFill>
                <a:latin typeface="Calibri"/>
              </a:rPr>
              <a:t>What's inside the Dev backlog (Jira hierarchy)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6144768"/>
            <a:ext cx="1280160" cy="411480"/>
          </a:xfrm>
          <a:prstGeom prst="roundRect">
            <a:avLst/>
          </a:prstGeom>
          <a:solidFill>
            <a:srgbClr val="EEE7F8"/>
          </a:solidFill>
          <a:ln w="12700">
            <a:solidFill>
              <a:srgbClr val="6E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F2D3D"/>
                </a:solidFill>
                <a:latin typeface="Calibri"/>
              </a:rPr>
              <a:t>Epic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6144768"/>
            <a:ext cx="1280160" cy="411480"/>
          </a:xfrm>
          <a:prstGeom prst="roundRect">
            <a:avLst/>
          </a:prstGeom>
          <a:solidFill>
            <a:srgbClr val="DCE9D7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F2D3D"/>
                </a:solidFill>
                <a:latin typeface="Calibri"/>
              </a:rPr>
              <a:t>Story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74720" y="6350508"/>
            <a:ext cx="457200" cy="0"/>
          </a:xfrm>
          <a:prstGeom prst="line">
            <a:avLst/>
          </a:prstGeom>
          <a:ln w="127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49240" y="6144768"/>
            <a:ext cx="1280160" cy="411480"/>
          </a:xfrm>
          <a:prstGeom prst="roundRect">
            <a:avLst/>
          </a:prstGeom>
          <a:solidFill>
            <a:srgbClr val="DCE9D7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F2D3D"/>
                </a:solidFill>
                <a:latin typeface="Calibri"/>
              </a:rPr>
              <a:t>Story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74720" y="6350508"/>
            <a:ext cx="1874520" cy="0"/>
          </a:xfrm>
          <a:prstGeom prst="line">
            <a:avLst/>
          </a:prstGeom>
          <a:ln w="127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66559" y="6144768"/>
            <a:ext cx="1280160" cy="411480"/>
          </a:xfrm>
          <a:prstGeom prst="roundRect">
            <a:avLst/>
          </a:prstGeom>
          <a:solidFill>
            <a:srgbClr val="DCE9D7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F2D3D"/>
                </a:solidFill>
                <a:latin typeface="Calibri"/>
              </a:rPr>
              <a:t>Story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74720" y="6350508"/>
            <a:ext cx="3291839" cy="0"/>
          </a:xfrm>
          <a:prstGeom prst="line">
            <a:avLst/>
          </a:prstGeom>
          <a:ln w="127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458200" y="6144768"/>
            <a:ext cx="2560320" cy="411480"/>
          </a:xfrm>
          <a:prstGeom prst="roundRect">
            <a:avLst/>
          </a:prstGeom>
          <a:solidFill>
            <a:srgbClr val="F1F1F1"/>
          </a:solidFill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 i="0">
                <a:solidFill>
                  <a:srgbClr val="808080"/>
                </a:solidFill>
                <a:latin typeface="Calibri"/>
              </a:rPr>
              <a:t>Task    (out of scope — dev team owns)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0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90979F"/>
                </a:solidFill>
                <a:latin typeface="Calibri"/>
              </a:rPr>
              <a:t>LIMS Story Generation — Client Alignment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17352" y="66019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90979F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What does "prior discipline to learn from" mean?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2D3D"/>
                </a:solidFill>
                <a:latin typeface="Calibri"/>
              </a:rPr>
              <a:t>It's a teaching reference — a discipline whose dev work has already been validated. For our project, that's Cytology.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07127" y="1828800"/>
            <a:ext cx="2377440" cy="1005840"/>
          </a:xfrm>
          <a:prstGeom prst="roundRect">
            <a:avLst/>
          </a:prstGeom>
          <a:solidFill>
            <a:srgbClr val="FCE0C4"/>
          </a:solidFill>
          <a:ln w="12700">
            <a:solidFill>
              <a:srgbClr val="B86A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F2D3D"/>
                </a:solidFill>
                <a:latin typeface="Calibri"/>
              </a:rPr>
              <a:t>Prior discipline
(Cytology)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3291840" cy="1234440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F2D3D"/>
                </a:solidFill>
                <a:latin typeface="Calibri"/>
              </a:rPr>
              <a:t>Theme starter set
Vocabulary of workflow categories
(Pre-Analytic, Analytic, Reporting, …)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42655" y="1691640"/>
            <a:ext cx="3291840" cy="1234440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F2D3D"/>
                </a:solidFill>
                <a:latin typeface="Calibri"/>
              </a:rPr>
              <a:t>Epic starter set
High-level dev groupings
(Specimen Receiving, Reporting, Billing, …)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  <a:latin typeface="Calibri"/>
              </a:rPr>
              <a:t>MANDATORY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5" y="14173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  <a:latin typeface="Calibri"/>
              </a:rPr>
              <a:t>MANDATORY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749039" y="2281428"/>
            <a:ext cx="1158088" cy="27432"/>
          </a:xfrm>
          <a:prstGeom prst="line">
            <a:avLst/>
          </a:prstGeom>
          <a:ln w="25400">
            <a:solidFill>
              <a:srgbClr val="B86A2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284567" y="2281428"/>
            <a:ext cx="1158088" cy="27432"/>
          </a:xfrm>
          <a:prstGeom prst="line">
            <a:avLst/>
          </a:prstGeom>
          <a:ln w="25400">
            <a:solidFill>
              <a:srgbClr val="B86A2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52647" y="3703320"/>
            <a:ext cx="5486400" cy="1097280"/>
          </a:xfrm>
          <a:prstGeom prst="roundRect">
            <a:avLst/>
          </a:prstGeom>
          <a:solidFill>
            <a:srgbClr val="F6F6F6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F2D3D"/>
                </a:solidFill>
                <a:latin typeface="Calibri"/>
              </a:rPr>
              <a:t>Story exemplars
Few-shot examples for the Story Extractor
Used IF prior-discipline Jira is accessible — system runs without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2647" y="34290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808080"/>
                </a:solidFill>
                <a:latin typeface="Calibri"/>
              </a:rPr>
              <a:t>OPTIONAL (enhancement)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5847" y="2834640"/>
            <a:ext cx="0" cy="868680"/>
          </a:xfrm>
          <a:prstGeom prst="line">
            <a:avLst/>
          </a:prstGeom>
          <a:ln w="19050">
            <a:solidFill>
              <a:srgbClr val="A0A0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507492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Not inherited from the prior discipline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13248"/>
            <a:ext cx="11430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606E"/>
                </a:solidFill>
                <a:latin typeface="Calibri"/>
              </a:rPr>
              <a:t>Tests   •   Roles   •   The new discipline's own SOPs   •   Tasks (out of scope; dev team owns decomposition)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606E"/>
                </a:solidFill>
                <a:latin typeface="Calibri"/>
              </a:rPr>
              <a:t>Quality-check thresholds use defaults tuned by first-run telemetry — no holdout calibration against the prior discipline is needed.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0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90979F"/>
                </a:solidFill>
                <a:latin typeface="Calibri"/>
              </a:rPr>
              <a:t>LIMS Story Generation — Client 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17352" y="66019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90979F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The agents — cast of characters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Six agents do the work. Plus a 5-reviewer panel that votes when admitting new categories.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508760"/>
          <a:ext cx="114757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194560"/>
                <a:gridCol w="5943600"/>
                <a:gridCol w="2880360"/>
              </a:tblGrid>
              <a:tr h="365760">
                <a:tc>
                  <a:txBody>
                    <a:bodyPr lIns="73152" rIns="73152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When it runs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F2D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l"/>
                      <a:r>
                        <a:rPr sz="1000" b="1">
                          <a:solidFill>
                            <a:srgbClr val="1F2D3D"/>
                          </a:solidFill>
                          <a:latin typeface="Calibri"/>
                        </a:rPr>
                        <a:t>Theme Discovery</a:t>
                      </a:r>
                    </a:p>
                  </a:txBody>
                  <a:tcPr>
                    <a:solidFill>
                      <a:srgbClr val="FAE9CB"/>
                    </a:solidFill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l"/>
                      <a:r>
                        <a:rPr sz="1000" b="0">
                          <a:solidFill>
                            <a:srgbClr val="1F2D3D"/>
                          </a:solidFill>
                          <a:latin typeface="Calibri"/>
                        </a:rPr>
                        <a:t>Builds the new discipline's theme catalog (categories) by classifying sample SOPs against the prior discipline's themes; new themes emerge only with evidence.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F2D3D"/>
                          </a:solidFill>
                          <a:latin typeface="Calibri"/>
                        </a:rPr>
                        <a:t>Once per new discipline
(re-runs only on alarm)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F2D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l"/>
                      <a:r>
                        <a:rPr sz="1000" b="1">
                          <a:solidFill>
                            <a:srgbClr val="1F2D3D"/>
                          </a:solidFill>
                          <a:latin typeface="Calibri"/>
                        </a:rPr>
                        <a:t>Epic Extractor (conditioned)</a:t>
                      </a:r>
                    </a:p>
                  </a:txBody>
                  <a:tcPr>
                    <a:solidFill>
                      <a:srgbClr val="FAE9CB"/>
                    </a:solidFill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l"/>
                      <a:r>
                        <a:rPr sz="1000" b="0">
                          <a:solidFill>
                            <a:srgbClr val="1F2D3D"/>
                          </a:solidFill>
                          <a:latin typeface="Calibri"/>
                        </a:rPr>
                        <a:t>Drafts high-level epics from each SOP; matches each draft against the prior discipline's epic catalog. Matches inherit; non-matches are clustered for novelty review.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F2D3D"/>
                          </a:solidFill>
                          <a:latin typeface="Calibri"/>
                        </a:rPr>
                        <a:t>Once per SOP
+ batch novelty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F2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l"/>
                      <a:r>
                        <a:rPr sz="1000" b="1">
                          <a:solidFill>
                            <a:srgbClr val="1F2D3D"/>
                          </a:solidFill>
                          <a:latin typeface="Calibri"/>
                        </a:rPr>
                        <a:t>Story Extractor</a:t>
                      </a:r>
                    </a:p>
                  </a:txBody>
                  <a:tcPr>
                    <a:solidFill>
                      <a:srgbClr val="FAE9CB"/>
                    </a:solidFill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l"/>
                      <a:r>
                        <a:rPr sz="1000" b="0">
                          <a:solidFill>
                            <a:srgbClr val="1F2D3D"/>
                          </a:solidFill>
                          <a:latin typeface="Calibri"/>
                        </a:rPr>
                        <a:t>Drafts user stories from SOP chunks using schema + shape definitions + closed-enum catalogs. Optionally retrieves (test, role, stage, shape)-matched exemplars from the prior discipline's Jira if it's available — improves style fidelity.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F2D3D"/>
                          </a:solidFill>
                          <a:latin typeface="Calibri"/>
                        </a:rPr>
                        <a:t>Per epic, per SOP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F2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l"/>
                      <a:r>
                        <a:rPr sz="1000" b="1">
                          <a:solidFill>
                            <a:srgbClr val="1F2D3D"/>
                          </a:solidFill>
                          <a:latin typeface="Calibri"/>
                        </a:rPr>
                        <a:t>Validator (quality check)</a:t>
                      </a:r>
                    </a:p>
                  </a:txBody>
                  <a:tcPr>
                    <a:solidFill>
                      <a:srgbClr val="FAE9CB"/>
                    </a:solidFill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l"/>
                      <a:r>
                        <a:rPr sz="1000" b="0">
                          <a:solidFill>
                            <a:srgbClr val="1F2D3D"/>
                          </a:solidFill>
                          <a:latin typeface="Calibri"/>
                        </a:rPr>
                        <a:t>Quality-checks every emitted story against shape-specific rules (MUST/SHALL for capabilities; concrete values for configurations; named artifact for cleanups). Failures auto-park.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F2D3D"/>
                          </a:solidFill>
                          <a:latin typeface="Calibri"/>
                        </a:rPr>
                        <a:t>Twice per story
(after extract + after synthesis)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F2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l"/>
                      <a:r>
                        <a:rPr sz="1000" b="1">
                          <a:solidFill>
                            <a:srgbClr val="1F2D3D"/>
                          </a:solidFill>
                          <a:latin typeface="Calibri"/>
                        </a:rPr>
                        <a:t>Cross-SOP Synthesis</a:t>
                      </a:r>
                    </a:p>
                  </a:txBody>
                  <a:tcPr>
                    <a:solidFill>
                      <a:srgbClr val="FAE9CB"/>
                    </a:solidFill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l"/>
                      <a:r>
                        <a:rPr sz="1000" b="0">
                          <a:solidFill>
                            <a:srgbClr val="1F2D3D"/>
                          </a:solidFill>
                          <a:latin typeface="Calibri"/>
                        </a:rPr>
                        <a:t>After all SOPs are processed, finds patterns recurring across ≥ 2 SOPs and lifts them into broader "capability stories" with parameters.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F2D3D"/>
                          </a:solidFill>
                          <a:latin typeface="Calibri"/>
                        </a:rPr>
                        <a:t>Once per batch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F2D3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l"/>
                      <a:r>
                        <a:rPr sz="1000" b="1">
                          <a:solidFill>
                            <a:srgbClr val="1F2D3D"/>
                          </a:solidFill>
                          <a:latin typeface="Calibri"/>
                        </a:rPr>
                        <a:t>Dependency Resolver</a:t>
                      </a:r>
                    </a:p>
                  </a:txBody>
                  <a:tcPr>
                    <a:solidFill>
                      <a:srgbClr val="FAE9CB"/>
                    </a:solidFill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l"/>
                      <a:r>
                        <a:rPr sz="1000" b="0">
                          <a:solidFill>
                            <a:srgbClr val="1F2D3D"/>
                          </a:solidFill>
                          <a:latin typeface="Calibri"/>
                        </a:rPr>
                        <a:t>Resolves dependencies between stories into a topological order — the final ordered backlog the dev team consumes.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F2D3D"/>
                          </a:solidFill>
                          <a:latin typeface="Calibri"/>
                        </a:rPr>
                        <a:t>Once per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330951"/>
            <a:ext cx="11475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Quorum panel — 5 reviewer agents running IN PARALLEL  (used inside Theme Discovery and Epic Extractor)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623559"/>
            <a:ext cx="2236622" cy="50292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 i="0">
                <a:solidFill>
                  <a:srgbClr val="1F2D3D"/>
                </a:solidFill>
                <a:latin typeface="Calibri"/>
              </a:rPr>
              <a:t>1. Is it coherent
as a new theme?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75534" y="5623559"/>
            <a:ext cx="2236622" cy="50292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 i="0">
                <a:solidFill>
                  <a:srgbClr val="1F2D3D"/>
                </a:solidFill>
                <a:latin typeface="Calibri"/>
              </a:rPr>
              <a:t>2. Is it distinct
from existing?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5308" y="5623559"/>
            <a:ext cx="2236622" cy="50292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 i="0">
                <a:solidFill>
                  <a:srgbClr val="1F2D3D"/>
                </a:solidFill>
                <a:latin typeface="Calibri"/>
              </a:rPr>
              <a:t>3. Is the description
sharp enough?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95083" y="5623559"/>
            <a:ext cx="2236622" cy="50292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 i="0">
                <a:solidFill>
                  <a:srgbClr val="1F2D3D"/>
                </a:solidFill>
                <a:latin typeface="Calibri"/>
              </a:rPr>
              <a:t>4. Are the cluster
members consistent?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4857" y="5623559"/>
            <a:ext cx="2236622" cy="50292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 i="0">
                <a:solidFill>
                  <a:srgbClr val="1F2D3D"/>
                </a:solidFill>
                <a:latin typeface="Calibri"/>
              </a:rPr>
              <a:t>5. Would admitting
fragment the catalog?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172199"/>
            <a:ext cx="11475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1">
                <a:solidFill>
                  <a:srgbClr val="1F2D3D"/>
                </a:solidFill>
                <a:latin typeface="Calibri"/>
              </a:rPr>
              <a:t>All 5 vote in parallel. Need 3 of 5 agreeing on the same action; their descriptions must be similar enough.  Otherwise the candidate goes to the review pile for the next round.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0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90979F"/>
                </a:solidFill>
                <a:latin typeface="Calibri"/>
              </a:rPr>
              <a:t>LIMS Story Generation — Client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7352" y="66019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90979F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The full flow — three phases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55606E"/>
                </a:solidFill>
                <a:latin typeface="Calibri"/>
              </a:rPr>
              <a:t>End-to-end view. Each phase is detailed in the next three slides.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3611880" cy="777240"/>
          </a:xfrm>
          <a:prstGeom prst="roundRect">
            <a:avLst/>
          </a:prstGeom>
          <a:solidFill>
            <a:srgbClr val="EEE7F8"/>
          </a:solidFill>
          <a:ln w="12700">
            <a:solidFill>
              <a:srgbClr val="6E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Phase 1
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3337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>Build theme &amp; epic catalogs for the new discipline, conditioned on the prior discipline.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49039"/>
            <a:ext cx="3337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55606E"/>
                </a:solidFill>
                <a:latin typeface="Calibri"/>
              </a:rPr>
              <a:t>Agents: Theme Discovery, Epic Extractor, Quorum panel.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9768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55606E"/>
                </a:solidFill>
                <a:latin typeface="Calibri"/>
              </a:rPr>
              <a:t>Runs once per new discipline.
Repeats only if alarm fires.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611880" cy="777240"/>
          </a:xfrm>
          <a:prstGeom prst="roundRect">
            <a:avLst/>
          </a:prstGeom>
          <a:solidFill>
            <a:srgbClr val="EEE7F8"/>
          </a:solidFill>
          <a:ln w="12700">
            <a:solidFill>
              <a:srgbClr val="6E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Phase 2
Per-SOP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743200"/>
            <a:ext cx="3337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>Read each SOP, draft stories, quality-check.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749039"/>
            <a:ext cx="3337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55606E"/>
                </a:solidFill>
                <a:latin typeface="Calibri"/>
              </a:rPr>
              <a:t>Agents: Epic Extractor, Story Extractor, Validator.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29768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55606E"/>
                </a:solidFill>
                <a:latin typeface="Calibri"/>
              </a:rPr>
              <a:t>Runs for every new SOP.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611880" cy="777240"/>
          </a:xfrm>
          <a:prstGeom prst="roundRect">
            <a:avLst/>
          </a:prstGeom>
          <a:solidFill>
            <a:srgbClr val="EEE7F8"/>
          </a:solidFill>
          <a:ln w="12700">
            <a:solidFill>
              <a:srgbClr val="6E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Phase 3
Combine + 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743200"/>
            <a:ext cx="3337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>Look across all SOPs, lift recurring patterns, generate outputs.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749039"/>
            <a:ext cx="3337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55606E"/>
                </a:solidFill>
                <a:latin typeface="Calibri"/>
              </a:rPr>
              <a:t>Agents: Cross-SOP Synthesis, Validator, Dependency Resolver.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29768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55606E"/>
                </a:solidFill>
                <a:latin typeface="Calibri"/>
              </a:rPr>
              <a:t>Runs after a batch of SOPs is processed.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23360" y="2194560"/>
            <a:ext cx="228600" cy="0"/>
          </a:xfrm>
          <a:prstGeom prst="line">
            <a:avLst/>
          </a:prstGeom>
          <a:ln w="3175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955280" y="2194560"/>
            <a:ext cx="228599" cy="0"/>
          </a:xfrm>
          <a:prstGeom prst="line">
            <a:avLst/>
          </a:prstGeom>
          <a:ln w="3175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65760" y="5349240"/>
            <a:ext cx="11475720" cy="548640"/>
          </a:xfrm>
          <a:prstGeom prst="rect">
            <a:avLst/>
          </a:prstGeom>
          <a:solidFill>
            <a:srgbClr val="F1F5FA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F2D3D"/>
                </a:solidFill>
                <a:latin typeface="Calibri"/>
              </a:rPr>
              <a:t>Continuous (alongside all phases): drift report   •   alarm-driven re-runs when too many items go to the review pile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0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90979F"/>
                </a:solidFill>
                <a:latin typeface="Calibri"/>
              </a:rPr>
              <a:t>LIMS Story Generation — Client Alignment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17352" y="66019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90979F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Phase 1 — Setup: building the theme catalog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F2D3D"/>
                </a:solidFill>
                <a:latin typeface="Calibri"/>
              </a:rPr>
              <a:t>Run once for a new discipline. Result: a theme catalog mostly inherited from the prior discipline + 0–N new themes (each with evidence).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743200" cy="411480"/>
          </a:xfrm>
          <a:prstGeom prst="roundRect">
            <a:avLst/>
          </a:prstGeom>
          <a:solidFill>
            <a:srgbClr val="E0EC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1F2D3D"/>
                </a:solidFill>
                <a:latin typeface="Calibri"/>
              </a:rPr>
              <a:t>Sample SOPs (~20)
+ prior discipline's themes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2743200" cy="411480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 i="0">
                <a:solidFill>
                  <a:srgbClr val="1F2D3D"/>
                </a:solidFill>
                <a:latin typeface="Calibri"/>
              </a:rPr>
              <a:t>Tag chunks: theme, test, role, stage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14600"/>
            <a:ext cx="2743200" cy="411480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 i="0">
                <a:solidFill>
                  <a:srgbClr val="1F2D3D"/>
                </a:solidFill>
                <a:latin typeface="Calibri"/>
              </a:rPr>
              <a:t>Compare each chunk to prior discipline's themes</a:t>
            </a:r>
          </a:p>
        </p:txBody>
      </p:sp>
      <p:sp>
        <p:nvSpPr>
          <p:cNvPr id="8" name="Diamond 7"/>
          <p:cNvSpPr/>
          <p:nvPr/>
        </p:nvSpPr>
        <p:spPr>
          <a:xfrm>
            <a:off x="822960" y="3063240"/>
            <a:ext cx="2011680" cy="548640"/>
          </a:xfrm>
          <a:prstGeom prst="diamond">
            <a:avLst/>
          </a:prstGeom>
          <a:solidFill>
            <a:srgbClr val="FCE7C4"/>
          </a:solidFill>
          <a:ln w="15875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1F2D3D"/>
                </a:solidFill>
                <a:latin typeface="Calibri"/>
              </a:rPr>
              <a:t>Score ≥ match
threshold?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3131820"/>
            <a:ext cx="2286000" cy="411480"/>
          </a:xfrm>
          <a:prstGeom prst="roundRect">
            <a:avLst/>
          </a:prstGeom>
          <a:solidFill>
            <a:srgbClr val="ECF4E8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1F2D3D"/>
                </a:solidFill>
                <a:latin typeface="Calibri"/>
              </a:rPr>
              <a:t>Inherit theme
(into new catalog)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86200"/>
            <a:ext cx="2743200" cy="411480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 i="0">
                <a:solidFill>
                  <a:srgbClr val="1F2D3D"/>
                </a:solidFill>
                <a:latin typeface="Calibri"/>
              </a:rPr>
              <a:t>Cluster residual into candidates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34840"/>
            <a:ext cx="519379" cy="45720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2D3D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3155" y="4434840"/>
            <a:ext cx="519379" cy="45720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2D3D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69110" y="4434840"/>
            <a:ext cx="519379" cy="45720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2D3D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25065" y="4434840"/>
            <a:ext cx="519379" cy="45720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2D3D"/>
                </a:solidFill>
                <a:latin typeface="Calibri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81020" y="4434840"/>
            <a:ext cx="519379" cy="45720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2D3D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103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1">
                <a:solidFill>
                  <a:srgbClr val="55606E"/>
                </a:solidFill>
                <a:latin typeface="Calibri"/>
              </a:rPr>
              <a:t>5 reviewers vote in parallel</a:t>
            </a:r>
          </a:p>
        </p:txBody>
      </p:sp>
      <p:sp>
        <p:nvSpPr>
          <p:cNvPr id="17" name="Diamond 16"/>
          <p:cNvSpPr/>
          <p:nvPr/>
        </p:nvSpPr>
        <p:spPr>
          <a:xfrm>
            <a:off x="822960" y="5166360"/>
            <a:ext cx="2011680" cy="548640"/>
          </a:xfrm>
          <a:prstGeom prst="diamond">
            <a:avLst/>
          </a:prstGeom>
          <a:solidFill>
            <a:srgbClr val="FCE7C4"/>
          </a:solidFill>
          <a:ln w="15875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1F2D3D"/>
                </a:solidFill>
                <a:latin typeface="Calibri"/>
              </a:rPr>
              <a:t>3 of 5 agree?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5234940"/>
            <a:ext cx="2286000" cy="411480"/>
          </a:xfrm>
          <a:prstGeom prst="roundRect">
            <a:avLst/>
          </a:prstGeom>
          <a:solidFill>
            <a:srgbClr val="F8E3E3"/>
          </a:solidFill>
          <a:ln w="12700">
            <a:solidFill>
              <a:srgbClr val="A8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1F2D3D"/>
                </a:solidFill>
                <a:latin typeface="Calibri"/>
              </a:rPr>
              <a:t>Park to review pile
(retry next cycle)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89320"/>
            <a:ext cx="2743200" cy="411480"/>
          </a:xfrm>
          <a:prstGeom prst="roundRect">
            <a:avLst/>
          </a:prstGeom>
          <a:solidFill>
            <a:srgbClr val="DCE9D7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2D3D"/>
                </a:solidFill>
                <a:latin typeface="Calibri"/>
              </a:rPr>
              <a:t>New discipline's theme catalog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828800" y="1828800"/>
            <a:ext cx="0" cy="13716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0" y="2377440"/>
            <a:ext cx="0" cy="13716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0" cy="13716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834640" y="3337560"/>
            <a:ext cx="731520" cy="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46120" y="3044952"/>
            <a:ext cx="822960" cy="274320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5C8347"/>
                </a:solidFill>
                <a:latin typeface="Calibri"/>
              </a:rPr>
              <a:t>yes
(inherit)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828800" y="3611880"/>
            <a:ext cx="0" cy="27432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901952" y="3584447"/>
            <a:ext cx="822960" cy="274320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A84A4A"/>
                </a:solidFill>
                <a:latin typeface="Calibri"/>
              </a:rPr>
              <a:t>no
(residual)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828800" y="4297680"/>
            <a:ext cx="0" cy="13716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0" y="5093208"/>
            <a:ext cx="0" cy="73152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34640" y="5440680"/>
            <a:ext cx="731520" cy="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246120" y="5276088"/>
            <a:ext cx="822960" cy="274320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A84A4A"/>
                </a:solidFill>
                <a:latin typeface="Calibri"/>
              </a:rPr>
              <a:t>no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828800" y="5715000"/>
            <a:ext cx="0" cy="27432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874519" y="5687568"/>
            <a:ext cx="822960" cy="274320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5C8347"/>
                </a:solidFill>
                <a:latin typeface="Calibri"/>
              </a:rPr>
              <a:t>yes (admit)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3200400" y="3543300"/>
            <a:ext cx="1508760" cy="2651759"/>
          </a:xfrm>
          <a:prstGeom prst="bentConnector3">
            <a:avLst/>
          </a:prstGeom>
          <a:ln w="15875">
            <a:solidFill>
              <a:srgbClr val="5C834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040880" y="1170432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Example output: theme catalog (simplified)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1463040"/>
            <a:ext cx="4937760" cy="365760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rIns="109728" tIns="73152" bIns="73152"/>
          <a:lstStyle/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new_lab_theme_catalog: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catalog_id: micro_v1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parent_catalog: cyto_v1     # prior discipline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inherited_from_cytology:    # carried over by Pass 1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- Pre-Analytic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- Analytic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- Post-Analytic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- Reporting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- QC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- Compliance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- Instrumentation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- Platform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newly_added:                # admitted by quorum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- id: MI1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name: Susceptibility Testing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evidence: 42 chunks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quorum_decision: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 votes: [admit×5]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 decision: admit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- id: MI2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name: Biosafety Containment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evidence: 28 chunks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quorum_decision: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 votes: [admit×4, fold→Compliance]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 decision: admit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unclassified_bucket:        # left for next round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count: 38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pct: 6.3%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212079"/>
            <a:ext cx="4937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What Pass 1 produced  (Microbiology classified vs Cytology's themes)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80" y="5458967"/>
            <a:ext cx="350672" cy="384048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 i="0">
                <a:solidFill>
                  <a:srgbClr val="1F2D3D"/>
                </a:solidFill>
                <a:latin typeface="Calibri"/>
              </a:rPr>
              <a:t>G1
145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28128" y="5458967"/>
            <a:ext cx="350672" cy="384048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 i="0">
                <a:solidFill>
                  <a:srgbClr val="1F2D3D"/>
                </a:solidFill>
                <a:latin typeface="Calibri"/>
              </a:rPr>
              <a:t>G2
88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15376" y="5458967"/>
            <a:ext cx="350672" cy="384048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 i="0">
                <a:solidFill>
                  <a:srgbClr val="1F2D3D"/>
                </a:solidFill>
                <a:latin typeface="Calibri"/>
              </a:rPr>
              <a:t>G3
60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02625" y="5458967"/>
            <a:ext cx="350672" cy="384048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 i="0">
                <a:solidFill>
                  <a:srgbClr val="1F2D3D"/>
                </a:solidFill>
                <a:latin typeface="Calibri"/>
              </a:rPr>
              <a:t>G4
52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89873" y="5458967"/>
            <a:ext cx="350672" cy="384048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 i="0">
                <a:solidFill>
                  <a:srgbClr val="1F2D3D"/>
                </a:solidFill>
                <a:latin typeface="Calibri"/>
              </a:rPr>
              <a:t>G5
44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77122" y="5458967"/>
            <a:ext cx="350672" cy="384048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 i="0">
                <a:solidFill>
                  <a:srgbClr val="1F2D3D"/>
                </a:solidFill>
                <a:latin typeface="Calibri"/>
              </a:rPr>
              <a:t>G6
30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64370" y="5458967"/>
            <a:ext cx="350672" cy="384048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 i="0">
                <a:solidFill>
                  <a:srgbClr val="1F2D3D"/>
                </a:solidFill>
                <a:latin typeface="Calibri"/>
              </a:rPr>
              <a:t>G7
38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51618" y="5458967"/>
            <a:ext cx="350672" cy="384048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 i="0">
                <a:solidFill>
                  <a:srgbClr val="1F2D3D"/>
                </a:solidFill>
                <a:latin typeface="Calibri"/>
              </a:rPr>
              <a:t>G8
20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12019" y="5458967"/>
            <a:ext cx="1642262" cy="384048"/>
          </a:xfrm>
          <a:prstGeom prst="roundRect">
            <a:avLst/>
          </a:prstGeom>
          <a:solidFill>
            <a:srgbClr val="F8E3E3"/>
          </a:solidFill>
          <a:ln w="12700">
            <a:solidFill>
              <a:srgbClr val="A8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1F2D3D"/>
                </a:solidFill>
                <a:latin typeface="Calibri"/>
              </a:rPr>
              <a:t>Residual
123 chunks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5861303"/>
            <a:ext cx="306141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1">
                <a:solidFill>
                  <a:srgbClr val="55606E"/>
                </a:solidFill>
                <a:latin typeface="Calibri"/>
              </a:rPr>
              <a:t>inherited from Cytology (477 chunks total)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12019" y="5861303"/>
            <a:ext cx="164226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1">
                <a:solidFill>
                  <a:srgbClr val="A84A4A"/>
                </a:solidFill>
                <a:latin typeface="Calibri"/>
              </a:rPr>
              <a:t>feeds Pass 2 cluster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0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90979F"/>
                </a:solidFill>
                <a:latin typeface="Calibri"/>
              </a:rPr>
              <a:t>LIMS Story Generation — Client Alignment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17352" y="66019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90979F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Phase 2 — Per-SOP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F2D3D"/>
                </a:solidFill>
                <a:latin typeface="Calibri"/>
              </a:rPr>
              <a:t>Runs once per SOP. Result: validated stories under the right epics. The dashed box below wraps everything that runs per SOP — N instances run in parallel.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5669280" cy="5212080"/>
          </a:xfrm>
          <a:prstGeom prst="rect">
            <a:avLst/>
          </a:prstGeom>
          <a:noFill/>
          <a:ln w="12700">
            <a:solidFill>
              <a:srgbClr val="9099A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43584"/>
            <a:ext cx="3200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43584"/>
            <a:ext cx="3200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1">
                <a:solidFill>
                  <a:srgbClr val="606870"/>
                </a:solidFill>
                <a:latin typeface="Calibri"/>
              </a:rPr>
              <a:t>ForEach SOP   —   N instances run in parallel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2743200" cy="502920"/>
          </a:xfrm>
          <a:prstGeom prst="roundRect">
            <a:avLst/>
          </a:prstGeom>
          <a:solidFill>
            <a:srgbClr val="E0EC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2D3D"/>
                </a:solidFill>
                <a:latin typeface="Calibri"/>
              </a:rPr>
              <a:t>SOP arrives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2743200" cy="502920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 i="0">
                <a:solidFill>
                  <a:srgbClr val="1F2D3D"/>
                </a:solidFill>
                <a:latin typeface="Calibri"/>
              </a:rPr>
              <a:t>Tag chunks: theme, test, role, stage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88920"/>
            <a:ext cx="2743200" cy="50292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2D3D"/>
                </a:solidFill>
                <a:latin typeface="Calibri"/>
              </a:rPr>
              <a:t>Epic Extractor: draft + match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2743200" cy="50292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2D3D"/>
                </a:solidFill>
                <a:latin typeface="Calibri"/>
              </a:rPr>
              <a:t>Story Extractor: draft
(uses exemplars if available)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51959"/>
            <a:ext cx="2743200" cy="50292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2D3D"/>
                </a:solidFill>
                <a:latin typeface="Calibri"/>
              </a:rPr>
              <a:t>Validator: quality-check (shape rules)</a:t>
            </a:r>
          </a:p>
        </p:txBody>
      </p:sp>
      <p:sp>
        <p:nvSpPr>
          <p:cNvPr id="13" name="Diamond 12"/>
          <p:cNvSpPr/>
          <p:nvPr/>
        </p:nvSpPr>
        <p:spPr>
          <a:xfrm>
            <a:off x="822960" y="4937759"/>
            <a:ext cx="2011680" cy="685800"/>
          </a:xfrm>
          <a:prstGeom prst="diamond">
            <a:avLst/>
          </a:prstGeom>
          <a:solidFill>
            <a:srgbClr val="FCE7C4"/>
          </a:solidFill>
          <a:ln w="15875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2D3D"/>
                </a:solidFill>
                <a:latin typeface="Calibri"/>
              </a:rPr>
              <a:t>Pass quality?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5029199"/>
            <a:ext cx="2194560" cy="502920"/>
          </a:xfrm>
          <a:prstGeom prst="roundRect">
            <a:avLst/>
          </a:prstGeom>
          <a:solidFill>
            <a:srgbClr val="F8E3E3"/>
          </a:solidFill>
          <a:ln w="12700">
            <a:solidFill>
              <a:srgbClr val="A8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2D3D"/>
                </a:solidFill>
                <a:latin typeface="Calibri"/>
              </a:rPr>
              <a:t>Revise (≤2 tries)
then review pile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6035040"/>
            <a:ext cx="2743200" cy="502920"/>
          </a:xfrm>
          <a:prstGeom prst="roundRect">
            <a:avLst/>
          </a:prstGeom>
          <a:solidFill>
            <a:srgbClr val="DCE9D7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2D3D"/>
                </a:solidFill>
                <a:latin typeface="Calibri"/>
              </a:rPr>
              <a:t>Story kept (validated)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28800" y="1920240"/>
            <a:ext cx="0" cy="18288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828800" y="2606039"/>
            <a:ext cx="0" cy="182881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828800" y="3291839"/>
            <a:ext cx="0" cy="182881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0" y="3977639"/>
            <a:ext cx="0" cy="27432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0" y="4754879"/>
            <a:ext cx="0" cy="18288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834640" y="5280659"/>
            <a:ext cx="731520" cy="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246120" y="5116068"/>
            <a:ext cx="822960" cy="274320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A84A4A"/>
                </a:solidFill>
                <a:latin typeface="Calibri"/>
              </a:rPr>
              <a:t>no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828800" y="5623559"/>
            <a:ext cx="0" cy="411481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74519" y="5664708"/>
            <a:ext cx="822960" cy="274320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5C8347"/>
                </a:solidFill>
                <a:latin typeface="Calibri"/>
              </a:rPr>
              <a:t>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1124712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Example output: a single story (simplified)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1417320"/>
            <a:ext cx="4937760" cy="356616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rIns="109728" tIns="73152" bIns="73152"/>
          <a:lstStyle/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story: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id: STORY-MICRO-0042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shape: capability       # one of: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                   #   capability,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                   #   workflow-stage-split,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                   #   configuration-instance,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                   #   cleanup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title: "Validate received specimens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   against open orders"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acceptance_criteria: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- when: "specimen received with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      accession number"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then: "system MUST match against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      open order"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tests: [gram_stain, blood_culture]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persona: lims           # closed enum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stage: accessioning_verification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source_citation: SOP-MICRO-014, lines 23-31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epic_id: EPIC-MICRO-001 (Specimen Receiving)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quality: passed         # or: parked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50749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The 4 quality rules — one per story shape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5349240"/>
            <a:ext cx="1193292" cy="22860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4E79"/>
                </a:solidFill>
                <a:latin typeface="Calibri"/>
              </a:rPr>
              <a:t>Capability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5577840"/>
            <a:ext cx="1193292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 i="0">
                <a:solidFill>
                  <a:srgbClr val="1F2D3D"/>
                </a:solidFill>
                <a:latin typeface="Calibri"/>
              </a:rPr>
              <a:t>MUST/SHALL
+ parameters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89036" y="5349240"/>
            <a:ext cx="1193292" cy="22860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4E79"/>
                </a:solidFill>
                <a:latin typeface="Calibri"/>
              </a:rPr>
              <a:t>Stage-split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89036" y="5577840"/>
            <a:ext cx="1193292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 i="0">
                <a:solidFill>
                  <a:srgbClr val="1F2D3D"/>
                </a:solidFill>
                <a:latin typeface="Calibri"/>
              </a:rPr>
              <a:t>Stage in title
+ siblings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37192" y="5349240"/>
            <a:ext cx="1193292" cy="22860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4E79"/>
                </a:solidFill>
                <a:latin typeface="Calibri"/>
              </a:rPr>
              <a:t>Config-instance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37192" y="5577840"/>
            <a:ext cx="1193292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 i="0">
                <a:solidFill>
                  <a:srgbClr val="1F2D3D"/>
                </a:solidFill>
                <a:latin typeface="Calibri"/>
              </a:rPr>
              <a:t>Concrete typed values
no MUST/SHALL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785348" y="5349240"/>
            <a:ext cx="1193292" cy="22860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4E79"/>
                </a:solidFill>
                <a:latin typeface="Calibri"/>
              </a:rPr>
              <a:t>Cleanup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785348" y="5577840"/>
            <a:ext cx="1193292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0" i="0">
                <a:solidFill>
                  <a:srgbClr val="1F2D3D"/>
                </a:solidFill>
                <a:latin typeface="Calibri"/>
              </a:rPr>
              <a:t>Named artifact
+ before/after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0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90979F"/>
                </a:solidFill>
                <a:latin typeface="Calibri"/>
              </a:rPr>
              <a:t>LIMS Story Generation — Client Alignment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17352" y="66019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90979F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Phase 3 — Combine patterns + continuous monitoring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F2D3D"/>
                </a:solidFill>
                <a:latin typeface="Calibri"/>
              </a:rPr>
              <a:t>Runs after a batch of SOPs. Recurring patterns lift to broader "capability stories" with parameters.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743200" cy="411480"/>
          </a:xfrm>
          <a:prstGeom prst="roundRect">
            <a:avLst/>
          </a:prstGeom>
          <a:solidFill>
            <a:srgbClr val="E0EC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1F2D3D"/>
                </a:solidFill>
                <a:latin typeface="Calibri"/>
              </a:rPr>
              <a:t>All kept stories
from all SOPs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2743200" cy="411480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 i="0">
                <a:solidFill>
                  <a:srgbClr val="1F2D3D"/>
                </a:solidFill>
                <a:latin typeface="Calibri"/>
              </a:rPr>
              <a:t>Cluster on (test, role, stage,
shape, behavior)</a:t>
            </a:r>
          </a:p>
        </p:txBody>
      </p:sp>
      <p:sp>
        <p:nvSpPr>
          <p:cNvPr id="7" name="Diamond 6"/>
          <p:cNvSpPr/>
          <p:nvPr/>
        </p:nvSpPr>
        <p:spPr>
          <a:xfrm>
            <a:off x="731520" y="2514600"/>
            <a:ext cx="2194560" cy="548640"/>
          </a:xfrm>
          <a:prstGeom prst="diamond">
            <a:avLst/>
          </a:prstGeom>
          <a:solidFill>
            <a:srgbClr val="FCE7C4"/>
          </a:solidFill>
          <a:ln w="15875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1F2D3D"/>
                </a:solidFill>
                <a:latin typeface="Calibri"/>
              </a:rPr>
              <a:t>Pattern in
≥ 2 docs?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583180"/>
            <a:ext cx="2286000" cy="411480"/>
          </a:xfrm>
          <a:prstGeom prst="roundRect">
            <a:avLst/>
          </a:prstGeom>
          <a:solidFill>
            <a:srgbClr val="ECF4E8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1F2D3D"/>
                </a:solidFill>
                <a:latin typeface="Calibri"/>
              </a:rPr>
              <a:t>Keep concrete
story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37560"/>
            <a:ext cx="2743200" cy="41148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1F2D3D"/>
                </a:solidFill>
                <a:latin typeface="Calibri"/>
              </a:rPr>
              <a:t>Lift to capability story
(parameterized)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86200"/>
            <a:ext cx="2743200" cy="41148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1F2D3D"/>
                </a:solidFill>
                <a:latin typeface="Calibri"/>
              </a:rPr>
              <a:t>Validator (gate 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34840"/>
            <a:ext cx="2743200" cy="41148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1F2D3D"/>
                </a:solidFill>
                <a:latin typeface="Calibri"/>
              </a:rPr>
              <a:t>Dependency Resolver
(topological order)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983480"/>
            <a:ext cx="2743200" cy="411480"/>
          </a:xfrm>
          <a:prstGeom prst="roundRect">
            <a:avLst/>
          </a:prstGeom>
          <a:solidFill>
            <a:srgbClr val="DCE9D7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2D3D"/>
                </a:solidFill>
                <a:latin typeface="Calibri"/>
              </a:rPr>
              <a:t>Final ordered backlog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28800" y="1828800"/>
            <a:ext cx="0" cy="13716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8800" y="2377440"/>
            <a:ext cx="0" cy="13716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26080" y="2788920"/>
            <a:ext cx="640080" cy="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91839" y="2624327"/>
            <a:ext cx="822960" cy="274320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5C8347"/>
                </a:solidFill>
                <a:latin typeface="Calibri"/>
              </a:rPr>
              <a:t>no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28800" y="3063240"/>
            <a:ext cx="0" cy="27432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74519" y="3035808"/>
            <a:ext cx="822960" cy="274320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5C8347"/>
                </a:solidFill>
                <a:latin typeface="Calibri"/>
              </a:rPr>
              <a:t>yes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28800" y="3749039"/>
            <a:ext cx="0" cy="137161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0" y="4297680"/>
            <a:ext cx="0" cy="13716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0" y="4846320"/>
            <a:ext cx="0" cy="13716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200400" y="2994660"/>
            <a:ext cx="1508760" cy="2194560"/>
          </a:xfrm>
          <a:prstGeom prst="bentConnector3">
            <a:avLst/>
          </a:prstGeom>
          <a:ln w="15875">
            <a:solidFill>
              <a:srgbClr val="5C834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040880" y="1170432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Example: a lifted capability story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1463040"/>
            <a:ext cx="4937760" cy="365760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rIns="109728" tIns="73152" bIns="73152"/>
          <a:lstStyle/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capability_story: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id: STORY-MICRO-CAP-0007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shape: capability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title: "Configurable critical-result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   notification across tests"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parameters:                # what varies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- test:      enum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- threshold: number+units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- persona_owner: supervisor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acceptance_criteria: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- when: "{test} flagged critical"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then: "notify {persona_owner}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      within 1 hour"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child_stories:             # the concrete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- STORY-MICRO-0023       # cases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- STORY-MICRO-0041       # this lifted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- STORY-MICRO-0089       # from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source_sops: [SOP-014, SOP-019, SOP-022]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521208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What "pattern in ≥ 2 SOPs" produces (worked example)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5504688"/>
            <a:ext cx="1188720" cy="320040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1F2D3D"/>
                </a:solidFill>
                <a:latin typeface="Calibri"/>
              </a:rPr>
              <a:t>Story · SOP-007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5870448"/>
            <a:ext cx="1188720" cy="320040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1F2D3D"/>
                </a:solidFill>
                <a:latin typeface="Calibri"/>
              </a:rPr>
              <a:t>Story · SOP-014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5577840"/>
            <a:ext cx="1417320" cy="539495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1F2D3D"/>
                </a:solidFill>
                <a:latin typeface="Calibri"/>
              </a:rPr>
              <a:t>Cluster:
2 distinct SOPs
≥ 2 → lift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95560" y="5577840"/>
            <a:ext cx="1783079" cy="539495"/>
          </a:xfrm>
          <a:prstGeom prst="roundRect">
            <a:avLst/>
          </a:prstGeom>
          <a:solidFill>
            <a:srgbClr val="DCE9D7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2D3D"/>
                </a:solidFill>
                <a:latin typeface="Calibri"/>
              </a:rPr>
              <a:t>Capability story
+ parameters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47888" y="5664708"/>
            <a:ext cx="237744" cy="101955"/>
          </a:xfrm>
          <a:prstGeom prst="line">
            <a:avLst/>
          </a:prstGeom>
          <a:ln w="1524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247888" y="5928512"/>
            <a:ext cx="237744" cy="101956"/>
          </a:xfrm>
          <a:prstGeom prst="line">
            <a:avLst/>
          </a:prstGeom>
          <a:ln w="1524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939528" y="5847588"/>
            <a:ext cx="237744" cy="0"/>
          </a:xfrm>
          <a:prstGeom prst="line">
            <a:avLst/>
          </a:prstGeom>
          <a:ln w="1905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0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90979F"/>
                </a:solidFill>
                <a:latin typeface="Calibri"/>
              </a:rPr>
              <a:t>LIMS Story Generation — Client Alignment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17352" y="66019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90979F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The 4 story shapes — one example 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5606E"/>
                </a:solidFill>
                <a:latin typeface="Calibri"/>
              </a:rPr>
              <a:t>Different shapes have different quality rules (slide 6). These examples show what makes each shape that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17320"/>
            <a:ext cx="5647791" cy="329184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F4E79"/>
                </a:solidFill>
                <a:latin typeface="Calibri"/>
              </a:rPr>
              <a:t>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64792"/>
            <a:ext cx="555635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55606E"/>
                </a:solidFill>
                <a:latin typeface="Calibri"/>
              </a:rPr>
              <a:t>MUST/SHALL  +  configurable parameters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20824"/>
            <a:ext cx="5647791" cy="182880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rIns="109728" tIns="73152" bIns="73152"/>
          <a:lstStyle/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title:  "Validate received specimens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 against open orders"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shape:   capability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persona: lims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stage:   accessioning_verification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tests:   [gram_stain, blood_culture]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AC1:  When specimen received with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accession, system MUST match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against open order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AC2:  When no match found within 24h,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system MUST flag for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8143" y="1417320"/>
            <a:ext cx="5647791" cy="329184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F4E79"/>
                </a:solidFill>
                <a:latin typeface="Calibri"/>
              </a:rPr>
              <a:t>WORKFLOW-STAGE-SPLIT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3863" y="1764792"/>
            <a:ext cx="555635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55606E"/>
                </a:solidFill>
                <a:latin typeface="Calibri"/>
              </a:rPr>
              <a:t>Stage in title  +  sibling stories enumerated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8143" y="2020824"/>
            <a:ext cx="5647791" cy="182880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rIns="109728" tIns="73152" bIns="73152"/>
          <a:lstStyle/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title:  "PHI update — after results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 are reported"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shape:   workflow-stage-split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persona: supervisor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stage:   reporting_case_closure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AC1:  When PHI corrected on finalised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report, system MUST regenerate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with audit trail entry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AC2:  When EHR has report, system MUST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send corrected-result message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cross_links: STORY-0076 (before work),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      STORY-0077 (after work started)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014216"/>
            <a:ext cx="5647791" cy="329184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F4E79"/>
                </a:solidFill>
                <a:latin typeface="Calibri"/>
              </a:rPr>
              <a:t>CONFIGURATION-INSTANCE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361688"/>
            <a:ext cx="555635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55606E"/>
                </a:solidFill>
                <a:latin typeface="Calibri"/>
              </a:rPr>
              <a:t>Concrete typed values  ·  no MUST/SHALL pretense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617720"/>
            <a:ext cx="5647791" cy="182880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rIns="109728" tIns="73152" bIns="73152"/>
          <a:lstStyle/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title:  "Blood culture incubation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 — bottle parameters"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shape:   configuration-instance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tests:   [blood_culture_incubation]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persona: null     stage: null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AC1:  When bottle received, configure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incubation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expected_value: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 temperature_c:    35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 duration_h:       120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 agitation_rpm:    220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 alert_threshold_h: 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8143" y="4014216"/>
            <a:ext cx="5647791" cy="329184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F4E79"/>
                </a:solidFill>
                <a:latin typeface="Calibri"/>
              </a:rPr>
              <a:t>CLEANUP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863" y="4361688"/>
            <a:ext cx="555635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55606E"/>
                </a:solidFill>
                <a:latin typeface="Calibri"/>
              </a:rPr>
              <a:t>Named artifact  +  before/after observable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8143" y="4617720"/>
            <a:ext cx="5647791" cy="182880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rIns="109728" tIns="73152" bIns="73152"/>
          <a:lstStyle/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title:  "Remove obsolete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 'Pending Pathologist Review'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 status from results screen"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shape:   cleanup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persona: null     stage: null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AC1:  When viewing the results screen,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the option MUST NOT appear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AC2:  When existing case has the status,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MUST migrate to 'Pending Review'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with audit trail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edge_cases_handled: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- existing case with the status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- in-flight orders with the 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0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90979F"/>
                </a:solidFill>
                <a:latin typeface="Calibri"/>
              </a:rPr>
              <a:t>LIMS Story Generation — Client Alignment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7352" y="66019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90979F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Inside two key agents — Validator &amp; Dependency Resolver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5606E"/>
                </a:solidFill>
                <a:latin typeface="Calibri"/>
              </a:rPr>
              <a:t>What these two agents actually do, beyond their one-line description on slide 3.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17320"/>
            <a:ext cx="5760720" cy="45720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Validator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5760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55606E"/>
                </a:solidFill>
                <a:latin typeface="Calibri"/>
              </a:rPr>
              <a:t>Runs at gate 1 (after Story Extractor) and gate 2 (after Synthesis).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86000"/>
            <a:ext cx="5486400" cy="384048"/>
          </a:xfrm>
          <a:prstGeom prst="roundRect">
            <a:avLst/>
          </a:prstGeom>
          <a:solidFill>
            <a:srgbClr val="E0EC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2D3D"/>
                </a:solidFill>
                <a:latin typeface="Calibri"/>
              </a:rPr>
              <a:t>Receives a draft 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88920"/>
            <a:ext cx="5486400" cy="384048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 i="0">
                <a:solidFill>
                  <a:srgbClr val="1F2D3D"/>
                </a:solidFill>
                <a:latin typeface="Calibri"/>
              </a:rPr>
              <a:t>1. Closed-enum check  (tests, persona, stage in catalog?)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46120" y="2670048"/>
            <a:ext cx="0" cy="118872"/>
          </a:xfrm>
          <a:prstGeom prst="line">
            <a:avLst/>
          </a:prstGeom>
          <a:ln w="1651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3291839"/>
            <a:ext cx="5486400" cy="384048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 i="0">
                <a:solidFill>
                  <a:srgbClr val="1F2D3D"/>
                </a:solidFill>
                <a:latin typeface="Calibri"/>
              </a:rPr>
              <a:t>2. Shape verification  (declared shape matches content?)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46120" y="3172968"/>
            <a:ext cx="0" cy="118871"/>
          </a:xfrm>
          <a:prstGeom prst="line">
            <a:avLst/>
          </a:prstGeom>
          <a:ln w="1651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" y="3794759"/>
            <a:ext cx="5486400" cy="384048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 i="0">
                <a:solidFill>
                  <a:srgbClr val="1F2D3D"/>
                </a:solidFill>
                <a:latin typeface="Calibri"/>
              </a:rPr>
              <a:t>3. Apply shape-specific rubric  (4 rules — see slide 6)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46120" y="3675887"/>
            <a:ext cx="0" cy="118872"/>
          </a:xfrm>
          <a:prstGeom prst="line">
            <a:avLst/>
          </a:prstGeom>
          <a:ln w="1651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46120" y="4178807"/>
            <a:ext cx="0" cy="118872"/>
          </a:xfrm>
          <a:prstGeom prst="line">
            <a:avLst/>
          </a:prstGeom>
          <a:ln w="1651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iamond 14"/>
          <p:cNvSpPr/>
          <p:nvPr/>
        </p:nvSpPr>
        <p:spPr>
          <a:xfrm>
            <a:off x="2057400" y="4297679"/>
            <a:ext cx="2377440" cy="502920"/>
          </a:xfrm>
          <a:prstGeom prst="diamond">
            <a:avLst/>
          </a:prstGeom>
          <a:solidFill>
            <a:srgbClr val="FCE7C4"/>
          </a:solidFill>
          <a:ln w="15875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2D3D"/>
                </a:solidFill>
                <a:latin typeface="Calibri"/>
              </a:rPr>
              <a:t>Pass all checks?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4343399"/>
            <a:ext cx="1691640" cy="338328"/>
          </a:xfrm>
          <a:prstGeom prst="roundRect">
            <a:avLst/>
          </a:prstGeom>
          <a:solidFill>
            <a:srgbClr val="F8E3E3"/>
          </a:solidFill>
          <a:ln w="12700">
            <a:solidFill>
              <a:srgbClr val="A8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 i="0">
                <a:solidFill>
                  <a:srgbClr val="1F2D3D"/>
                </a:solidFill>
                <a:latin typeface="Calibri"/>
              </a:rPr>
              <a:t>no:  revise (≤2)
then auto-park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4206240" y="4512563"/>
            <a:ext cx="228600" cy="36577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66259" y="4366259"/>
            <a:ext cx="822960" cy="274320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A84A4A"/>
                </a:solidFill>
                <a:latin typeface="Calibri"/>
              </a:rPr>
              <a:t>no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46120" y="4800599"/>
            <a:ext cx="0" cy="27432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91839" y="4773167"/>
            <a:ext cx="822960" cy="274320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1">
                <a:solidFill>
                  <a:srgbClr val="5C8347"/>
                </a:solidFill>
                <a:latin typeface="Calibri"/>
              </a:rPr>
              <a:t>yes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074919"/>
            <a:ext cx="5486400" cy="384048"/>
          </a:xfrm>
          <a:prstGeom prst="roundRect">
            <a:avLst/>
          </a:prstGeom>
          <a:solidFill>
            <a:srgbClr val="DCE9D7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2D3D"/>
                </a:solidFill>
                <a:latin typeface="Calibri"/>
              </a:rPr>
              <a:t>Story kept (validated) → Output 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417320"/>
            <a:ext cx="5486400" cy="45720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Dependency Resolver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1920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55606E"/>
                </a:solidFill>
                <a:latin typeface="Calibri"/>
              </a:rPr>
              <a:t>Takes all kept stories; outputs a topological order for sprint planning.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2128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>
                <a:solidFill>
                  <a:srgbClr val="55606E"/>
                </a:solidFill>
                <a:latin typeface="Calibri"/>
              </a:rPr>
              <a:t>Each story has dependencies[] and cross_links[] — the resolver builds a DAG and sorts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18219" y="2606040"/>
            <a:ext cx="960120" cy="365760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2D3D"/>
                </a:solidFill>
                <a:latin typeface="Calibri"/>
              </a:rPr>
              <a:t>Story 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3337560"/>
            <a:ext cx="960120" cy="365760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2D3D"/>
                </a:solidFill>
                <a:latin typeface="Calibri"/>
              </a:rPr>
              <a:t>Story 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24159" y="3337560"/>
            <a:ext cx="960120" cy="365760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2D3D"/>
                </a:solidFill>
                <a:latin typeface="Calibri"/>
              </a:rPr>
              <a:t>Story 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18219" y="4069080"/>
            <a:ext cx="960120" cy="365760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2D3D"/>
                </a:solidFill>
                <a:latin typeface="Calibri"/>
              </a:rPr>
              <a:t>Story 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18219" y="4800600"/>
            <a:ext cx="960120" cy="365760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2D3D"/>
                </a:solidFill>
                <a:latin typeface="Calibri"/>
              </a:rPr>
              <a:t>Story E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7292340" y="2971800"/>
            <a:ext cx="1805940" cy="365760"/>
          </a:xfrm>
          <a:prstGeom prst="line">
            <a:avLst/>
          </a:prstGeom>
          <a:ln w="1524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098280" y="2971800"/>
            <a:ext cx="1805939" cy="365760"/>
          </a:xfrm>
          <a:prstGeom prst="line">
            <a:avLst/>
          </a:prstGeom>
          <a:ln w="1524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292340" y="3703320"/>
            <a:ext cx="1805940" cy="365760"/>
          </a:xfrm>
          <a:prstGeom prst="line">
            <a:avLst/>
          </a:prstGeom>
          <a:ln w="1524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9098280" y="3703320"/>
            <a:ext cx="1805939" cy="365760"/>
          </a:xfrm>
          <a:prstGeom prst="line">
            <a:avLst/>
          </a:prstGeom>
          <a:ln w="1524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098280" y="4434840"/>
            <a:ext cx="0" cy="365760"/>
          </a:xfrm>
          <a:prstGeom prst="line">
            <a:avLst/>
          </a:prstGeom>
          <a:ln w="1524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355080" y="5349240"/>
            <a:ext cx="5486400" cy="411480"/>
          </a:xfrm>
          <a:prstGeom prst="roundRect">
            <a:avLst/>
          </a:prstGeom>
          <a:solidFill>
            <a:srgbClr val="DCE9D7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4E79"/>
                </a:solidFill>
                <a:latin typeface="Calibri"/>
              </a:rPr>
              <a:t>Output:   1. A  →  2. B  →  3. C  →  4. D  →  5. 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0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90979F"/>
                </a:solidFill>
                <a:latin typeface="Calibri"/>
              </a:rPr>
              <a:t>LIMS Story Generation — Client Alignment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17352" y="66019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90979F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Validator at work — a sample story walks through the checks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5606E"/>
                </a:solidFill>
                <a:latin typeface="Calibri"/>
              </a:rPr>
              <a:t>Each check is explicit. Failure on attempt 1; pass on revise (attempt 2).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17320"/>
            <a:ext cx="5638647" cy="365760"/>
          </a:xfrm>
          <a:prstGeom prst="roundRect">
            <a:avLst/>
          </a:prstGeom>
          <a:solidFill>
            <a:srgbClr val="F8E3E3"/>
          </a:solidFill>
          <a:ln w="12700">
            <a:solidFill>
              <a:srgbClr val="A8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A84A4A"/>
                </a:solidFill>
                <a:latin typeface="Calibri"/>
              </a:rPr>
              <a:t>ATTEMPT 1   ✗  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5638647" cy="141732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rIns="109728" tIns="73152" bIns="73152"/>
          <a:lstStyle/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story (draft):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shape:   capability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title:   "Validate accession appropriately"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persona: lims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tests:   [gram_stain]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stage:   accessioning_verification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AC: "When specimen received, system MUST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validate appropriately"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source:  SOP-MICRO-014, lines 23-31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337560"/>
            <a:ext cx="5547207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Validator checks: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30168"/>
            <a:ext cx="545576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C8347"/>
                </a:solidFill>
                <a:latin typeface="Calibri"/>
              </a:rPr>
              <a:t>✓    1. Closed-enum check  —  tests, persona, stage all in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22776"/>
            <a:ext cx="545576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C8347"/>
                </a:solidFill>
                <a:latin typeface="Calibri"/>
              </a:rPr>
              <a:t>✓    2. Shape verification  —  declared 'capability' matches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15384"/>
            <a:ext cx="545576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A84A4A"/>
                </a:solidFill>
                <a:latin typeface="Calibri"/>
              </a:rPr>
              <a:t>✗    3. Shape rubric  —  capability:no_ambiguous_quantifiers fails on 'appropriately'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599432"/>
            <a:ext cx="5638647" cy="365760"/>
          </a:xfrm>
          <a:prstGeom prst="roundRect">
            <a:avLst/>
          </a:prstGeom>
          <a:solidFill>
            <a:srgbClr val="F8E3E3"/>
          </a:solidFill>
          <a:ln w="12700">
            <a:solidFill>
              <a:srgbClr val="A8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A84A4A"/>
                </a:solidFill>
                <a:latin typeface="Calibri"/>
              </a:rPr>
              <a:t>→ Revise  (attempt 1 of 2)  —  Story Extractor reworks the 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1417320"/>
            <a:ext cx="5638647" cy="365760"/>
          </a:xfrm>
          <a:prstGeom prst="roundRect">
            <a:avLst/>
          </a:prstGeom>
          <a:solidFill>
            <a:srgbClr val="DCE9D7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5C8347"/>
                </a:solidFill>
                <a:latin typeface="Calibri"/>
              </a:rPr>
              <a:t>ATTEMPT 2   ✓   revised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287" y="1828800"/>
            <a:ext cx="5638647" cy="141732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rIns="109728" tIns="73152" bIns="73152"/>
          <a:lstStyle/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story (revised):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shape:   capability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title:   "Validate accession against open order"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persona: lims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tests:   [gram_stain]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stage:   accessioning_verification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AC: "When specimen received with accession,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system MUST match against open order;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if no match within 24h, MUST flag for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 accessioning review"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source:  SOP-MICRO-014, lines 23-31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3337560"/>
            <a:ext cx="5547207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Validator checks: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3630168"/>
            <a:ext cx="545576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C8347"/>
                </a:solidFill>
                <a:latin typeface="Calibri"/>
              </a:rPr>
              <a:t>✓    1. Closed-enum check  —  passes (unchanged)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3922776"/>
            <a:ext cx="545576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C8347"/>
                </a:solidFill>
                <a:latin typeface="Calibri"/>
              </a:rPr>
              <a:t>✓    2. Shape verification  —  passes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4215384"/>
            <a:ext cx="545576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5C8347"/>
                </a:solidFill>
                <a:latin typeface="Calibri"/>
              </a:rPr>
              <a:t>✓    3. Shape rubric  —  concrete, observable, parameterized (24h)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4599432"/>
            <a:ext cx="5638647" cy="365760"/>
          </a:xfrm>
          <a:prstGeom prst="roundRect">
            <a:avLst/>
          </a:prstGeom>
          <a:solidFill>
            <a:srgbClr val="DCE9D7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5C8347"/>
                </a:solidFill>
                <a:latin typeface="Calibri"/>
              </a:rPr>
              <a:t>→ Story kept (validated)  →  Output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02352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55606E"/>
                </a:solidFill>
                <a:latin typeface="Calibri"/>
              </a:rPr>
              <a:t>Note:  closed-enum violations (e.g. invalid persona name) hard-reject without entering the revise loop. Only shape/AC issues consume revision attempts. Failures after 2 revisions auto-park to the review pile (see slide 11).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0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90979F"/>
                </a:solidFill>
                <a:latin typeface="Calibri"/>
              </a:rPr>
              <a:t>LIMS Story Generation — Client Alignment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17352" y="66019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90979F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What happens when something fails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F2D3D"/>
                </a:solidFill>
                <a:latin typeface="Calibri"/>
              </a:rPr>
              <a:t>Failures at three levels — each has a deterministic fallback. No human intervention is required at runtime.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6275" y="1554480"/>
            <a:ext cx="3703320" cy="45720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F4E79"/>
                </a:solidFill>
                <a:latin typeface="Calibri"/>
              </a:rPr>
              <a:t>Per-call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6275" y="2057400"/>
            <a:ext cx="3703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55606E"/>
                </a:solidFill>
                <a:latin typeface="Calibri"/>
              </a:rPr>
              <a:t>(LLM error or timeout)</a:t>
            </a:r>
          </a:p>
        </p:txBody>
      </p:sp>
      <p:sp>
        <p:nvSpPr>
          <p:cNvPr id="7" name="Rectangle 6"/>
          <p:cNvSpPr/>
          <p:nvPr/>
        </p:nvSpPr>
        <p:spPr>
          <a:xfrm>
            <a:off x="376275" y="2331720"/>
            <a:ext cx="37033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Trigger: </a:t>
            </a:r>
            <a:r>
              <a:rPr sz="1000">
                <a:solidFill>
                  <a:srgbClr val="1F2D3D"/>
                </a:solidFill>
                <a:latin typeface="Calibri"/>
              </a:rPr>
              <a:t>An agent's LLM call returns an error or times out.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Fallback: </a:t>
            </a:r>
            <a:r>
              <a:rPr sz="1000">
                <a:solidFill>
                  <a:srgbClr val="1F2D3D"/>
                </a:solidFill>
                <a:latin typeface="Calibri"/>
              </a:rPr>
              <a:t>Retry with exponential backoff (3 attempts).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If persistent: </a:t>
            </a:r>
            <a:r>
              <a:rPr sz="1000">
                <a:solidFill>
                  <a:srgbClr val="1F2D3D"/>
                </a:solidFill>
                <a:latin typeface="Calibri"/>
              </a:rPr>
              <a:t>Defer the item to the next batch; log the failure to the audit trail.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Pipeline impact: </a:t>
            </a:r>
            <a:r>
              <a:rPr sz="1000">
                <a:solidFill>
                  <a:srgbClr val="1F2D3D"/>
                </a:solidFill>
                <a:latin typeface="Calibri"/>
              </a:rPr>
              <a:t>Other items continue. No block.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4187" y="1554480"/>
            <a:ext cx="3703320" cy="457200"/>
          </a:xfrm>
          <a:prstGeom prst="roundRect">
            <a:avLst/>
          </a:prstGeom>
          <a:solidFill>
            <a:srgbClr val="ECF4E8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F4E79"/>
                </a:solidFill>
                <a:latin typeface="Calibri"/>
              </a:rPr>
              <a:t>Per-story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4187" y="2057400"/>
            <a:ext cx="3703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55606E"/>
                </a:solidFill>
                <a:latin typeface="Calibri"/>
              </a:rPr>
              <a:t>(quality check fails)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44187" y="2331720"/>
            <a:ext cx="37033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Trigger: </a:t>
            </a:r>
            <a:r>
              <a:rPr sz="1000">
                <a:solidFill>
                  <a:srgbClr val="1F2D3D"/>
                </a:solidFill>
                <a:latin typeface="Calibri"/>
              </a:rPr>
              <a:t>Validator rejects a story.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Fallback: </a:t>
            </a:r>
            <a:r>
              <a:rPr sz="1000">
                <a:solidFill>
                  <a:srgbClr val="1F2D3D"/>
                </a:solidFill>
                <a:latin typeface="Calibri"/>
              </a:rPr>
              <a:t>Up to 2 revision attempts; the Validator drives revisions with the failed-checks list.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If persistent: </a:t>
            </a:r>
            <a:r>
              <a:rPr sz="1000">
                <a:solidFill>
                  <a:srgbClr val="1F2D3D"/>
                </a:solidFill>
                <a:latin typeface="Calibri"/>
              </a:rPr>
              <a:t>Auto-park to the review pile. Story does not reach Output A in strict mode.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Pipeline impact: </a:t>
            </a:r>
            <a:r>
              <a:rPr sz="1000">
                <a:solidFill>
                  <a:srgbClr val="1F2D3D"/>
                </a:solidFill>
                <a:latin typeface="Calibri"/>
              </a:rPr>
              <a:t>Subsequent stories continue. No block.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2099" y="1554480"/>
            <a:ext cx="3703320" cy="457200"/>
          </a:xfrm>
          <a:prstGeom prst="roundRect">
            <a:avLst/>
          </a:prstGeom>
          <a:solidFill>
            <a:srgbClr val="F8E3E3"/>
          </a:solidFill>
          <a:ln w="12700">
            <a:solidFill>
              <a:srgbClr val="A8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F4E79"/>
                </a:solidFill>
                <a:latin typeface="Calibri"/>
              </a:rPr>
              <a:t>Per-batch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2099" y="2057400"/>
            <a:ext cx="3703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55606E"/>
                </a:solidFill>
                <a:latin typeface="Calibri"/>
              </a:rPr>
              <a:t>(drift / catalog issues)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2099" y="2331720"/>
            <a:ext cx="37033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A8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91440"/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Trigger: </a:t>
            </a:r>
            <a:r>
              <a:rPr sz="1000">
                <a:solidFill>
                  <a:srgbClr val="1F2D3D"/>
                </a:solidFill>
                <a:latin typeface="Calibri"/>
              </a:rPr>
              <a:t>G0 / E0 bucket &gt; 5% rolling, or auto-park rate &gt; 15% sustained.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Fallback: </a:t>
            </a:r>
            <a:r>
              <a:rPr sz="1000">
                <a:solidFill>
                  <a:srgbClr val="1F2D3D"/>
                </a:solidFill>
                <a:latin typeface="Calibri"/>
              </a:rPr>
              <a:t>Auto-rerun discovery with τ_match −0.05 (more permissive); re-cluster G0; quorum re-evaluates.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If τ_match floor (0.50) hit: </a:t>
            </a:r>
            <a:r>
              <a:rPr sz="1000">
                <a:solidFill>
                  <a:srgbClr val="1F2D3D"/>
                </a:solidFill>
                <a:latin typeface="Calibri"/>
              </a:rPr>
              <a:t>Drift report flags the discipline for manual catalog re-curation (one-time architect action).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Pipeline impact: </a:t>
            </a:r>
            <a:r>
              <a:rPr sz="1000">
                <a:solidFill>
                  <a:srgbClr val="1F2D3D"/>
                </a:solidFill>
                <a:latin typeface="Calibri"/>
              </a:rPr>
              <a:t>Pipeline continues. The drift report is informational.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Three queues collect different kinds of failures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6275" y="5532120"/>
            <a:ext cx="3703320" cy="914399"/>
          </a:xfrm>
          <a:prstGeom prst="roundRect">
            <a:avLst/>
          </a:prstGeom>
          <a:solidFill>
            <a:srgbClr val="F1F5FA"/>
          </a:solidFill>
          <a:ln w="9525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00" b="1">
                <a:solidFill>
                  <a:srgbClr val="1F4E79"/>
                </a:solidFill>
                <a:latin typeface="Calibri"/>
              </a:rPr>
              <a:t>Review pile</a:t>
            </a:r>
          </a:p>
          <a:p>
            <a:pPr algn="l"/>
            <a:r>
              <a:rPr sz="1000" i="1">
                <a:solidFill>
                  <a:srgbClr val="55606E"/>
                </a:solidFill>
                <a:latin typeface="Calibri"/>
              </a:rPr>
              <a:t>Quality / rubric failures</a:t>
            </a:r>
          </a:p>
          <a:p>
            <a:pPr algn="l"/>
            <a:r>
              <a:rPr sz="1000">
                <a:solidFill>
                  <a:srgbClr val="1F2D3D"/>
                </a:solidFill>
                <a:latin typeface="Calibri"/>
              </a:rPr>
              <a:t>Stories that failed Validator after 2 revisions.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44187" y="5532120"/>
            <a:ext cx="3703320" cy="914399"/>
          </a:xfrm>
          <a:prstGeom prst="roundRect">
            <a:avLst/>
          </a:prstGeom>
          <a:solidFill>
            <a:srgbClr val="F1F5FA"/>
          </a:solidFill>
          <a:ln w="9525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00" b="1">
                <a:solidFill>
                  <a:srgbClr val="1F4E79"/>
                </a:solidFill>
                <a:latin typeface="Calibri"/>
              </a:rPr>
              <a:t>G0 / E0 buckets</a:t>
            </a:r>
          </a:p>
          <a:p>
            <a:pPr algn="l"/>
            <a:r>
              <a:rPr sz="1000" i="1">
                <a:solidFill>
                  <a:srgbClr val="55606E"/>
                </a:solidFill>
                <a:latin typeface="Calibri"/>
              </a:rPr>
              <a:t>Classification failures</a:t>
            </a:r>
          </a:p>
          <a:p>
            <a:pPr algn="l"/>
            <a:r>
              <a:rPr sz="1000">
                <a:solidFill>
                  <a:srgbClr val="1F2D3D"/>
                </a:solidFill>
                <a:latin typeface="Calibri"/>
              </a:rPr>
              <a:t>Chunks (G0) and draft epics (E0) that didn't classify or cluster.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2099" y="5532120"/>
            <a:ext cx="3703320" cy="914399"/>
          </a:xfrm>
          <a:prstGeom prst="roundRect">
            <a:avLst/>
          </a:prstGeom>
          <a:solidFill>
            <a:srgbClr val="F1F5FA"/>
          </a:solidFill>
          <a:ln w="9525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00" b="1">
                <a:solidFill>
                  <a:srgbClr val="1F4E79"/>
                </a:solidFill>
                <a:latin typeface="Calibri"/>
              </a:rPr>
              <a:t>Audit trail</a:t>
            </a:r>
          </a:p>
          <a:p>
            <a:pPr algn="l"/>
            <a:r>
              <a:rPr sz="1000" i="1">
                <a:solidFill>
                  <a:srgbClr val="55606E"/>
                </a:solidFill>
                <a:latin typeface="Calibri"/>
              </a:rPr>
              <a:t>Call-level errors</a:t>
            </a:r>
          </a:p>
          <a:p>
            <a:pPr algn="l"/>
            <a:r>
              <a:rPr sz="1000">
                <a:solidFill>
                  <a:srgbClr val="1F2D3D"/>
                </a:solidFill>
                <a:latin typeface="Calibri"/>
              </a:rPr>
              <a:t>LLM-call failures after retry exhaustion. For diagnostics.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0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90979F"/>
                </a:solidFill>
                <a:latin typeface="Calibri"/>
              </a:rPr>
              <a:t>LIMS Story Generation — Client 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17352" y="66019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90979F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What ships and the alignment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5127" y="1188720"/>
            <a:ext cx="3657600" cy="502920"/>
          </a:xfrm>
          <a:prstGeom prst="roundRect">
            <a:avLst/>
          </a:prstGeom>
          <a:solidFill>
            <a:srgbClr val="DCE9D7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F2D3D"/>
                </a:solidFill>
                <a:latin typeface="Calibri"/>
              </a:rPr>
              <a:t>Jira backlog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127" y="1691640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F2D3D"/>
                </a:solidFill>
                <a:latin typeface="Calibri"/>
              </a:rPr>
              <a:t>Epics + Stories
Ready for the dev team
Includes traceability to source docs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7047" y="1188720"/>
            <a:ext cx="3657600" cy="502920"/>
          </a:xfrm>
          <a:prstGeom prst="roundRect">
            <a:avLst/>
          </a:prstGeom>
          <a:solidFill>
            <a:srgbClr val="DCE9D7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F2D3D"/>
                </a:solidFill>
                <a:latin typeface="Calibri"/>
              </a:rPr>
              <a:t>Configuration files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047" y="1691640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F2D3D"/>
                </a:solidFill>
                <a:latin typeface="Calibri"/>
              </a:rPr>
              <a:t>Per-test settings
(e.g. blood culture parameters)
Deterministic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98967" y="1188720"/>
            <a:ext cx="3657600" cy="502920"/>
          </a:xfrm>
          <a:prstGeom prst="roundRect">
            <a:avLst/>
          </a:prstGeom>
          <a:solidFill>
            <a:srgbClr val="DCE9D7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F2D3D"/>
                </a:solidFill>
                <a:latin typeface="Calibri"/>
              </a:rPr>
              <a:t>Reference + audit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8967" y="1691640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F2D3D"/>
                </a:solidFill>
                <a:latin typeface="Calibri"/>
              </a:rPr>
              <a:t>Theme catalog, epic catalog
Cross-discipline mapping
Review pile + decision 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Calibri"/>
              </a:rPr>
              <a:t>What we need from the client — mandatory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1F2D3D"/>
                </a:solidFill>
                <a:latin typeface="Calibri"/>
              </a:rPr>
              <a:t>•  The list of tests for each discipline in scope (blood culture, urine culture, target pathogens for Microbiology).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F2D3D"/>
                </a:solidFill>
                <a:latin typeface="Calibri"/>
              </a:rPr>
              <a:t>•  The list of roles in those disciplines (with type: human / system / external).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F2D3D"/>
                </a:solidFill>
                <a:latin typeface="Calibri"/>
              </a:rPr>
              <a:t>•  The prior discipline's theme catalog and epic catalog (small structured YAMLs — Cytology for the seminal extension).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F2D3D"/>
                </a:solidFill>
                <a:latin typeface="Calibri"/>
              </a:rPr>
              <a:t>•  A sample of ~20 SOPs per new discipline to seed Phase 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0916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1">
                <a:solidFill>
                  <a:srgbClr val="55606E"/>
                </a:solidFill>
                <a:latin typeface="Calibri"/>
              </a:rPr>
              <a:t>Optional — quality enhancement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55606E"/>
                </a:solidFill>
                <a:latin typeface="Calibri"/>
              </a:rPr>
              <a:t>•  Sanitized prior-discipline Jira export — improves story style fidelity if available; not required for the system to function.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623560"/>
            <a:ext cx="11475720" cy="77724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F4E79"/>
                </a:solidFill>
                <a:latin typeface="Calibri"/>
              </a:rPr>
              <a:t>Alignment ask: do these inputs match what's available on your side, and does the output match what your dev team would consume?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0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90979F"/>
                </a:solidFill>
                <a:latin typeface="Calibri"/>
              </a:rPr>
              <a:t>LIMS Story Generation — Client Alignment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17352" y="66019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90979F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