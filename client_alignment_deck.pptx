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we are building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1F2D3D"/>
                </a:solidFill>
                <a:latin typeface="Calibri"/>
              </a:rPr>
              <a:t>A system that turns SOPs (Standard Operating Procedures) into a ready-to-use backlog of dev work — without an expert reviewing each item.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108960" cy="12801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SOPs
(Standard Operating Procedures)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828800"/>
            <a:ext cx="3108960" cy="12801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1F2D3D"/>
                </a:solidFill>
                <a:latin typeface="Calibri"/>
              </a:rPr>
              <a:t>Our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828800"/>
            <a:ext cx="3108960" cy="12801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2D3D"/>
                </a:solidFill>
                <a:latin typeface="Calibri"/>
              </a:rPr>
              <a:t>Dev backlog
(Jira: Epics + Stories)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0332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80960" y="2468880"/>
            <a:ext cx="77724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55606E"/>
                </a:solidFill>
                <a:latin typeface="Calibri"/>
              </a:rPr>
              <a:t>Plus: configuration files + audit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233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1F4E79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Today: every new SOP → manual expert review → hand-written stories. Slow, costly, inconsistent.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With this system: SOPs in, structured stories out. Quality is built into the rules, not into one expert's review.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1F2D3D"/>
                </a:solidFill>
                <a:latin typeface="Calibri"/>
              </a:rPr>
              <a:t>•  Same system, any clinical discipline. Each new discipline is a configuration change, not an engineering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97880"/>
            <a:ext cx="114300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1F4E79"/>
                </a:solidFill>
                <a:latin typeface="Calibri"/>
              </a:rPr>
              <a:t>What's inside the Dev backlog (Jira hierarchy)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6144768"/>
            <a:ext cx="1280160" cy="41148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74720" y="6350508"/>
            <a:ext cx="45720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74720" y="6350508"/>
            <a:ext cx="1874520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766559" y="6144768"/>
            <a:ext cx="128016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Story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74720" y="6350508"/>
            <a:ext cx="3291839" cy="0"/>
          </a:xfrm>
          <a:prstGeom prst="line">
            <a:avLst/>
          </a:prstGeom>
          <a:ln w="127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58200" y="6144768"/>
            <a:ext cx="2560320" cy="411480"/>
          </a:xfrm>
          <a:prstGeom prst="roundRect">
            <a:avLst/>
          </a:prstGeom>
          <a:solidFill>
            <a:srgbClr val="F1F1F1"/>
          </a:solidFill>
          <a:ln w="12700">
            <a:solidFill>
              <a:srgbClr val="B0B0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808080"/>
                </a:solidFill>
                <a:latin typeface="Calibri"/>
              </a:rPr>
              <a:t>Task    (out of scope — dev team owns)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does "prior discipline to learn from" mean?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D3D"/>
                </a:solidFill>
                <a:latin typeface="Calibri"/>
              </a:rPr>
              <a:t>It's a teaching reference — a discipline whose dev work has already been validated. For our project, that's Cytology.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07127" y="1828800"/>
            <a:ext cx="2377440" cy="1005840"/>
          </a:xfrm>
          <a:prstGeom prst="roundRect">
            <a:avLst/>
          </a:prstGeom>
          <a:solidFill>
            <a:srgbClr val="FCE0C4"/>
          </a:solidFill>
          <a:ln w="12700">
            <a:solidFill>
              <a:srgbClr val="B86A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Prior discipline
(Cytology)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Theme starter set
Vocabulary of workflow categories
(Pre-Analytic, Analytic, Reporting, …)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42655" y="1828800"/>
            <a:ext cx="3291840" cy="12344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2D3D"/>
                </a:solidFill>
                <a:latin typeface="Calibri"/>
              </a:rPr>
              <a:t>Epic starter set
High-level dev groupings
(Specimen Receiving, Reporting, Billing, …)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2655" y="155448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1F4E79"/>
                </a:solidFill>
                <a:latin typeface="Calibri"/>
              </a:rPr>
              <a:t>MANDATORY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749039" y="2281428"/>
            <a:ext cx="1158088" cy="16459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284567" y="2281428"/>
            <a:ext cx="1158088" cy="164592"/>
          </a:xfrm>
          <a:prstGeom prst="line">
            <a:avLst/>
          </a:prstGeom>
          <a:ln w="25400">
            <a:solidFill>
              <a:srgbClr val="B86A29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52647" y="3703320"/>
            <a:ext cx="5486400" cy="1097280"/>
          </a:xfrm>
          <a:prstGeom prst="roundRect">
            <a:avLst/>
          </a:prstGeom>
          <a:solidFill>
            <a:srgbClr val="F6F6F6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Story exemplars
Few-shot examples for the Story Extractor
Used IF prior-discipline Jira is accessible — system runs without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647" y="34290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 i="0">
                <a:solidFill>
                  <a:srgbClr val="808080"/>
                </a:solidFill>
                <a:latin typeface="Calibri"/>
              </a:rPr>
              <a:t>OPTIONAL (enhancement)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834640"/>
            <a:ext cx="0" cy="868680"/>
          </a:xfrm>
          <a:prstGeom prst="line">
            <a:avLst/>
          </a:prstGeom>
          <a:ln w="19050">
            <a:solidFill>
              <a:srgbClr val="A0A0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50749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Not inherited from the prior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5606E"/>
                </a:solidFill>
                <a:latin typeface="Calibri"/>
              </a:rPr>
              <a:t>Tests   •   Roles   •   The new discipline's own SOPs   •   Tasks (out of scope; dev team owns decomposition)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760720"/>
            <a:ext cx="11430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1F4E79"/>
                </a:solidFill>
                <a:latin typeface="Calibri"/>
              </a:rPr>
              <a:t>Sourcing:  theme + epic catalogs are typically snapshotted from a validated prior discipline (Cytology, in our case).  If no prior is available, a one-time cold-start SOP analysis discovers themes and epics from scratch — that's how Cytology's catalog was built originally.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199632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55606E"/>
                </a:solidFill>
                <a:latin typeface="Calibri"/>
              </a:rPr>
              <a:t>Quality-check thresholds use defaults tuned by first-run telemetry — no holdout calibration against the prior discipline is needed.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agents — cast of characters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1F2D3D"/>
                </a:solidFill>
                <a:latin typeface="Calibri"/>
              </a:rPr>
              <a:t>Six agents do the work. Plus a quorum — 5 conditional checks evaluated when admitting new categories.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508760"/>
          <a:ext cx="114757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5943600"/>
                <a:gridCol w="2880360"/>
              </a:tblGrid>
              <a:tr h="365760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When it runs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Theme Discovery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Builds the new discipline's theme catalog (categories) by classifying sample SOPs against the prior discipline's themes; new themes emerge only with evidence.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new discipline
(re-runs only on alarm)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Epic Extractor (conditioned)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high-level epics from each SOP; matches each draft against the prior discipline's epic catalog. Matches inherit; non-matches are clustered for novelty review.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SOP
+ batch novelty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Story Extractor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Drafts user stories from SOP chunks using schema + shape definitions + closed-enum catalogs. Optionally retrieves (test, persona, stage, shape)-matched exemplars from the prior discipline's Jira if it's available — improves style fidelity.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Per epic, per SOP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Validator (quality check)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Quality-checks every emitted story against shape-specific rules (MUST/SHALL for capabilities; concrete values for configurations; named artifact for cleanups). Failures auto-park.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Twice per story
(after extract + after synthesis)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Cross-SOP Synthesis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After all SOPs are processed, finds patterns recurring across ≥ 2 SOPs and lifts them into broader "capability stories" with parameters.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1">
                          <a:solidFill>
                            <a:srgbClr val="1F2D3D"/>
                          </a:solidFill>
                          <a:latin typeface="Calibri"/>
                        </a:rPr>
                        <a:t>Dependency Resolver</a:t>
                      </a:r>
                    </a:p>
                  </a:txBody>
                  <a:tcPr>
                    <a:solidFill>
                      <a:srgbClr val="FAE9CB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l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Resolves dependencies between stories into a topological order — the final ordered backlog the dev team consumes.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36576" bIns="36576" anchor="ctr"/>
                    <a:lstStyle/>
                    <a:p>
                      <a:pPr algn="ctr"/>
                      <a:r>
                        <a:rPr sz="1000" b="0">
                          <a:solidFill>
                            <a:srgbClr val="1F2D3D"/>
                          </a:solidFill>
                          <a:latin typeface="Calibri"/>
                        </a:rPr>
                        <a:t>Once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330951"/>
            <a:ext cx="11475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F4E79"/>
                </a:solidFill>
                <a:latin typeface="Calibri"/>
              </a:rPr>
              <a:t>Quorum  —  conditional logic with 5 parallel checks  (used inside Theme Discovery and Epic Extractor)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1. Coherence
as a new theme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5534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2. Distinctness
from existing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5308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3. Description
sharpness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95083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4. Cluster member
consistency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4857" y="5623559"/>
            <a:ext cx="2236622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5. No catalog
fragmentation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72199"/>
            <a:ext cx="11475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0" i="1">
                <a:solidFill>
                  <a:srgbClr val="1F2D3D"/>
                </a:solidFill>
                <a:latin typeface="Calibri"/>
              </a:rPr>
              <a:t>5 conditions evaluated in parallel. Need 3 of 5 to clear plus consensus on the proposed entry.  Otherwise the candidate goes to the review pile for the next round.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full flow — three phases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55606E"/>
                </a:solidFill>
                <a:latin typeface="Calibri"/>
              </a:rPr>
              <a:t>End-to-end view. Each phase is detailed in the next three slides.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1
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Build theme &amp; epic catalogs for the new discipline, conditioned on the prior discipline.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Theme Discovery, Epic Extractor, Quorum panel.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once per new discipline.
Repeats only if alarm fires.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2
Per-SOP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Read each SOP, draft stories, quality-check.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Epic Extractor, Story Extractor, Validator.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for every new SOP.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777240"/>
          </a:xfrm>
          <a:prstGeom prst="roundRect">
            <a:avLst/>
          </a:prstGeom>
          <a:solidFill>
            <a:srgbClr val="EEE7F8"/>
          </a:solidFill>
          <a:ln w="12700">
            <a:solidFill>
              <a:srgbClr val="6E4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Phase 3
Combine + ship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33375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1F2D3D"/>
                </a:solidFill>
                <a:latin typeface="Calibri"/>
              </a:rPr>
              <a:t>Look across all SOPs, lift recurring patterns, generate outputs.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749039"/>
            <a:ext cx="33375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Agents: Cross-SOP Synthesis, Validator, Dependency Resolver.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4297680"/>
            <a:ext cx="3337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after a batch of SOPs is processed.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23360" y="2194560"/>
            <a:ext cx="228600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80" y="2194560"/>
            <a:ext cx="228599" cy="0"/>
          </a:xfrm>
          <a:prstGeom prst="line">
            <a:avLst/>
          </a:prstGeom>
          <a:ln w="317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65760" y="5349240"/>
            <a:ext cx="11475720" cy="548640"/>
          </a:xfrm>
          <a:prstGeom prst="rect">
            <a:avLst/>
          </a:prstGeom>
          <a:solidFill>
            <a:srgbClr val="F1F5FA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Continuous (alongside all phases): drift report   •   alarm-driven re-runs when too many items go to the review pile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1 — Setup: building the theme catalog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 once for a new discipline. Result: a theme catalog mostly inherited from the prior discipline + 0–N new themes (each with evidence).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Sample SOPs (~20)
+ prior discipline's themes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92807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Section each SOP
into logical chunks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68296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Tag chunks:
theme, test, persona, stage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43784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Compare each chunk to
prior discipline's themes</a:t>
            </a:r>
          </a:p>
        </p:txBody>
      </p:sp>
      <p:sp>
        <p:nvSpPr>
          <p:cNvPr id="9" name="Diamond 8"/>
          <p:cNvSpPr/>
          <p:nvPr/>
        </p:nvSpPr>
        <p:spPr>
          <a:xfrm>
            <a:off x="822960" y="3319272"/>
            <a:ext cx="201168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Score ≥ match
threshold?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378708"/>
            <a:ext cx="2286000" cy="384048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Inherit theme
(into new catalog)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023359"/>
            <a:ext cx="27432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residual into candidates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3155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69110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25065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81020" y="4498847"/>
            <a:ext cx="519379" cy="384048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92039"/>
            <a:ext cx="27432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5 conditional checks evaluated in parallel</a:t>
            </a:r>
          </a:p>
        </p:txBody>
      </p:sp>
      <p:sp>
        <p:nvSpPr>
          <p:cNvPr id="18" name="Diamond 17"/>
          <p:cNvSpPr/>
          <p:nvPr/>
        </p:nvSpPr>
        <p:spPr>
          <a:xfrm>
            <a:off x="822960" y="5111495"/>
            <a:ext cx="201168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3 of 5 conditions
cleared?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5170931"/>
            <a:ext cx="2286000" cy="38404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Park to review pile
(retry next cycle)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815583"/>
            <a:ext cx="27432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New discipline's theme catalog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28800" y="1801368"/>
            <a:ext cx="0" cy="91439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2276856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28800" y="2752344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828800" y="3227832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34640" y="3570732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246120" y="3278124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
(inherit)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828800" y="3822191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901952" y="3758183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
(residual)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4407407"/>
            <a:ext cx="0" cy="9144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828800" y="5084063"/>
            <a:ext cx="0" cy="27432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834640" y="5362955"/>
            <a:ext cx="73152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246120" y="5198364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828800" y="5614415"/>
            <a:ext cx="0" cy="201168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874519" y="555040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 (admit)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200400" y="3762756"/>
            <a:ext cx="1508760" cy="2244851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theme catalog (simplified)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theme_catalog: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catalog_id:     micro_v1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parent_catalog: cyto_v1     # prior discipline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inherited_themes:           # carried over by Pass 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G1, G2, G3, G4, G5, G6, G7, G8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novel_themes:               # admitted by quorum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Susceptibility Testing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42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[admit×5]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Biosafety Containment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28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[admit×4, fold→G6]    decision: admit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folded_in:                  # M=3 majority on fold target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id: MI3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name: Critical Result Notification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evidence: 15 chunks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votes: [fold→G4×3, admit×2]    decision: fold→G4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unclassified_bucket:        # left for next round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count: 38                 # = 6.3% of 600 (above 5% alarm)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212079"/>
            <a:ext cx="49377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1F4E79"/>
                </a:solidFill>
                <a:latin typeface="Calibri"/>
              </a:rPr>
              <a:t>What Pass 1 produced  (Microbiology classified vs Cytology's themes)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G1
145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2812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G2
88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15376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G3
60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02625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G4
52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89873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G5
44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77122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G6
30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364370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G7
38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751618" y="5458967"/>
            <a:ext cx="350672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G8
20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12019" y="5458967"/>
            <a:ext cx="1642262" cy="384048"/>
          </a:xfrm>
          <a:prstGeom prst="roundRect">
            <a:avLst/>
          </a:prstGeom>
          <a:solidFill>
            <a:srgbClr val="E8E2D4"/>
          </a:solidFill>
          <a:ln w="12700">
            <a:solidFill>
              <a:srgbClr val="908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Residual
123 chunks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0880" y="5861303"/>
            <a:ext cx="3061411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55606E"/>
                </a:solidFill>
                <a:latin typeface="Calibri"/>
              </a:rPr>
              <a:t>inherited from Cytology (477 chunks total)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12019" y="5861303"/>
            <a:ext cx="1642262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i="1">
                <a:solidFill>
                  <a:srgbClr val="706858"/>
                </a:solidFill>
                <a:latin typeface="Calibri"/>
              </a:rPr>
              <a:t>feeds Pass 2 cluster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40880" y="6062471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55606E"/>
                </a:solidFill>
                <a:latin typeface="Calibri"/>
              </a:rPr>
              <a:t>Note:  Pass 1 here is single-label — each chunk goes to its best-matching theme above τ_match=0.65 (or to residual). Runtime story / chunk theme tags are multi-label per D3 (themes are soft tags, not a forced taxonomy).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2 — Per-SOP 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once per SOP. Result: validated stories under the right epics. The dashed box below wraps everything that runs per SOP — N instances run in parallel.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325880"/>
            <a:ext cx="5669280" cy="5212080"/>
          </a:xfrm>
          <a:prstGeom prst="rect">
            <a:avLst/>
          </a:prstGeom>
          <a:noFill/>
          <a:ln w="12700">
            <a:solidFill>
              <a:srgbClr val="9099A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43584"/>
            <a:ext cx="32004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 i="1">
                <a:solidFill>
                  <a:srgbClr val="606870"/>
                </a:solidFill>
                <a:latin typeface="Calibri"/>
              </a:rPr>
              <a:t>ForEach SOP   —   N instances run in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743200" cy="45720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SOP arrives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79"/>
            <a:ext cx="2743200" cy="4572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Section SOP into logical chunks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39"/>
            <a:ext cx="2743200" cy="45720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Tag chunks: theme, test, persona, stage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399"/>
            <a:ext cx="27432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Epic Extractor: draft + match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794759"/>
            <a:ext cx="27432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Extractor: draft
(uses exemplars if available)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27432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Validator: quality-check (shape rules)</a:t>
            </a:r>
          </a:p>
        </p:txBody>
      </p:sp>
      <p:sp>
        <p:nvSpPr>
          <p:cNvPr id="14" name="Diamond 13"/>
          <p:cNvSpPr/>
          <p:nvPr/>
        </p:nvSpPr>
        <p:spPr>
          <a:xfrm>
            <a:off x="822960" y="4983480"/>
            <a:ext cx="201168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quality?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5029200"/>
            <a:ext cx="2194560" cy="41148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Revise (≤2 tries)
then review pile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852159"/>
            <a:ext cx="2743200" cy="45720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2D3D"/>
                </a:solidFill>
                <a:latin typeface="Calibri"/>
              </a:rPr>
              <a:t>Story kept (validated)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187451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828800" y="246887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828800" y="306323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3657599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25195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834640" y="5234940"/>
            <a:ext cx="731520" cy="228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246120" y="508177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828800" y="5532120"/>
            <a:ext cx="0" cy="320039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74519" y="552754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112471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 output: a single story (simplified)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40880" y="1417320"/>
            <a:ext cx="4937760" cy="356616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STORY-MICRO-0042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       # one of: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capability,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workflow-stage-split,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configuration-instance,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             #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accession number"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"system MUST match against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[gram_stain, 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           # closed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source_citation: SOP-MICRO-014, lines 23-31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epic_id: EPIC-MICRO-001 (Specimen Receiving)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quality: passed         # or: parked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507492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The 4 quality rules — one per story shape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040880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MUST/SHALL
+ parameters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89036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Stage-split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89036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Stage in title
+ siblings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37192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Config-instance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37192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Concrete typed values
no MUST/SHALL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85348" y="5349240"/>
            <a:ext cx="1193292" cy="2286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785348" y="5577840"/>
            <a:ext cx="1193292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0" i="0">
                <a:solidFill>
                  <a:srgbClr val="1F2D3D"/>
                </a:solidFill>
                <a:latin typeface="Calibri"/>
              </a:rPr>
              <a:t>Named artifact
+ before/after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Phase 3 — Combine patterns + continuous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Runs after a batch of SOPs. Recurring patterns lift to broader "capability stories" with parameters.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743200" cy="411480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All kept stories
from all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2743200" cy="41148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0" i="0">
                <a:solidFill>
                  <a:srgbClr val="1F2D3D"/>
                </a:solidFill>
                <a:latin typeface="Calibri"/>
              </a:rPr>
              <a:t>Cluster on (test, persona, stage,
shape, behavior)</a:t>
            </a:r>
          </a:p>
        </p:txBody>
      </p:sp>
      <p:sp>
        <p:nvSpPr>
          <p:cNvPr id="7" name="Diamond 6"/>
          <p:cNvSpPr/>
          <p:nvPr/>
        </p:nvSpPr>
        <p:spPr>
          <a:xfrm>
            <a:off x="731520" y="2514600"/>
            <a:ext cx="2194560" cy="54864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Pattern in
≥ 2 SOPs?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583180"/>
            <a:ext cx="2286000" cy="41148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Keep concrete
story 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33756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Lift to capability story
(parameterized)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8620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Validator (gate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434840"/>
            <a:ext cx="2743200" cy="41148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Dependency Resolver
(topological order)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983480"/>
            <a:ext cx="27432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Final ordered backlog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28800" y="182880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828800" y="237744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788920"/>
            <a:ext cx="640080" cy="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291839" y="262432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no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828800" y="3063240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874519" y="3035808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3749039"/>
            <a:ext cx="0" cy="137161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429768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28800" y="4846320"/>
            <a:ext cx="0" cy="13716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200400" y="2994660"/>
            <a:ext cx="1508760" cy="2194560"/>
          </a:xfrm>
          <a:prstGeom prst="bentConnector3">
            <a:avLst/>
          </a:prstGeom>
          <a:ln w="15875">
            <a:solidFill>
              <a:srgbClr val="5C834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040880" y="1170432"/>
            <a:ext cx="4937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Example: a lifted capability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463040"/>
            <a:ext cx="4937760" cy="36576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capability_story: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id: STORY-MICRO-CAP-0007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"Configurable critical-result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notification across tests"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parameters:                # what varies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test:      enum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threshold: number+units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persona_owner: microbiologist_supervisor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acceptance_criteria: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when: "{test} flagged critical"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then: "notify {persona_owner}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within 1 hour"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child_stories:             # the concrete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STORY-MICRO-0023       # cases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STORY-MICRO-0041       # this lifted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- STORY-MICRO-0089       # from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source_sops: [SOP-014, SOP-019, SOP-022]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212080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What "pattern in ≥ 2 SOPs" produces (worked example)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40880" y="550468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SOP-007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5870448"/>
            <a:ext cx="1188720" cy="32004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Story · SOP-014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5577840"/>
            <a:ext cx="1417320" cy="539495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 i="0">
                <a:solidFill>
                  <a:srgbClr val="1F2D3D"/>
                </a:solidFill>
                <a:latin typeface="Calibri"/>
              </a:rPr>
              <a:t>Cluster:
2 distinct SOPs
≥ 2 → lift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5577840"/>
            <a:ext cx="1783079" cy="539495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Capability story
+ parameters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47888" y="5664708"/>
            <a:ext cx="237744" cy="101955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247888" y="5928512"/>
            <a:ext cx="237744" cy="101956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39528" y="5847588"/>
            <a:ext cx="237744" cy="0"/>
          </a:xfrm>
          <a:prstGeom prst="line">
            <a:avLst/>
          </a:prstGeom>
          <a:ln w="1905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The 4 story shapes — one example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Different shapes have different quality rules (slide 6). These examples show what makes each shape that shape.   (AC = Acceptance Criterion.)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CAPABILITY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MUST/SHALL  +  configurable parameters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"Validate received specimens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against open orders"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[gram_stain, 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specimen received with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accession, system MUST match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against open order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no match found within 24h,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system MUST flag for 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8143" y="1417320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WORKFLOW-STAGE-SPLIT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3863" y="1764792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Stage in title  +  sibling stories enumerated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8143" y="2020824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"PHI (patient-health-info) update —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after results are reported"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workflow-stage-split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 microbiologist_supervisor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stage:   reporting_case_closure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PHI corrected on finalised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report, system MUST regenerate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 entry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the EHR (electronic health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record) has the report,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send corrected-result message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cross_links: STORY-0076 (before work),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STORY-0077 (after work started)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CONFIGURATION-INSTANCE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Concrete typed values  ·  no MUST/SHALL pretense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"Blood culture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— bottle parameters"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configuration-instance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tests:   [blood_culture_incubation]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bottle received, configure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incubation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expected_value: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temperature_c:    35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duration_h:       120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agitation_rpm:    220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alert_threshold_h: 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4014216"/>
            <a:ext cx="5647791" cy="329184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CLEANUP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4361688"/>
            <a:ext cx="5556351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Named artifact  +  before/after observable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8143" y="4617720"/>
            <a:ext cx="5647791" cy="18288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title:  "Remove obsolete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'Pending Pathologist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status from results screen"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shape:   cleanup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persona: null     stage: null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AC1:  When viewing the results screen,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the option MUST NOT appear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AC2:  When existing case has the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MUST migrate to 'Pending Review'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with audit trail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/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edge_cases:  existing case w/ status,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      in-flight orders w/ status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Inside two key agents — Validator &amp; Dependency Resolver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What these two agents actually do, beyond their one-line description on slide 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7607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Validator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920240"/>
            <a:ext cx="5760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Runs at gate 1 (after Story Extractor) and gate 2 (after Synthesis).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486400" cy="384048"/>
          </a:xfrm>
          <a:prstGeom prst="roundRect">
            <a:avLst/>
          </a:prstGeom>
          <a:solidFill>
            <a:srgbClr val="E0EC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Receives a draft story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1. Closed-enum check  (tests, persona, stage in catalog?)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46120" y="2670048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2920" y="329183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2. Shape verification  (declared shape matches content?)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46120" y="3172968"/>
            <a:ext cx="0" cy="118871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3794759"/>
            <a:ext cx="5486400" cy="384048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0" i="0">
                <a:solidFill>
                  <a:srgbClr val="1F2D3D"/>
                </a:solidFill>
                <a:latin typeface="Calibri"/>
              </a:rPr>
              <a:t>3. Apply shape-specific rubric  (4 rules — see slide 6)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46120" y="367588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54680" y="4178807"/>
            <a:ext cx="0" cy="118872"/>
          </a:xfrm>
          <a:prstGeom prst="line">
            <a:avLst/>
          </a:prstGeom>
          <a:ln w="1651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2286000" y="4297679"/>
            <a:ext cx="1737360" cy="502920"/>
          </a:xfrm>
          <a:prstGeom prst="diamond">
            <a:avLst/>
          </a:prstGeom>
          <a:solidFill>
            <a:srgbClr val="FCE7C4"/>
          </a:solidFill>
          <a:ln w="1587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Pass all checks?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343399"/>
            <a:ext cx="1691639" cy="338328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00" b="1" i="0">
                <a:solidFill>
                  <a:srgbClr val="1F2D3D"/>
                </a:solidFill>
                <a:latin typeface="Calibri"/>
              </a:rPr>
              <a:t>revise (≤2)
then auto-park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023360" y="4512563"/>
            <a:ext cx="274320" cy="36577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60520" y="4329683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A84A4A"/>
                </a:solidFill>
                <a:latin typeface="Calibri"/>
              </a:rPr>
              <a:t>no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54680" y="4800599"/>
            <a:ext cx="0" cy="274320"/>
          </a:xfrm>
          <a:prstGeom prst="line">
            <a:avLst/>
          </a:prstGeom>
          <a:ln w="2540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200400" y="4773167"/>
            <a:ext cx="822960" cy="274320"/>
          </a:xfrm>
          <a:prstGeom prst="rect">
            <a:avLst/>
          </a:prstGeom>
          <a:noFill/>
        </p:spPr>
        <p:txBody>
          <a:bodyPr wrap="none" lIns="36576" rIns="36576" tIns="0" bIns="0">
            <a:spAutoFit/>
          </a:bodyPr>
          <a:lstStyle/>
          <a:p>
            <a:pPr algn="ctr"/>
            <a:r>
              <a:rPr sz="1000" b="1">
                <a:solidFill>
                  <a:srgbClr val="5C8347"/>
                </a:solidFill>
                <a:latin typeface="Calibr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19"/>
            <a:ext cx="5486400" cy="384048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kept (validated) → Output 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48640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4E79"/>
                </a:solidFill>
                <a:latin typeface="Calibri"/>
              </a:rPr>
              <a:t>Dependency Resolver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1920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Takes all kept stories; outputs a topological order for sprint planning.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21284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Each story has dependencies[] and cross_links[] — the resolver builds a dependency graph (DAG) and sorts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18219" y="260604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12280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59" y="333756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18219" y="406908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18219" y="4800600"/>
            <a:ext cx="96012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 i="0">
                <a:solidFill>
                  <a:srgbClr val="1F2D3D"/>
                </a:solidFill>
                <a:latin typeface="Calibri"/>
              </a:rPr>
              <a:t>Story E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292340" y="297180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8280" y="297180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292340" y="3703320"/>
            <a:ext cx="180594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9098280" y="3703320"/>
            <a:ext cx="1805939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098280" y="4434840"/>
            <a:ext cx="0" cy="365760"/>
          </a:xfrm>
          <a:prstGeom prst="line">
            <a:avLst/>
          </a:prstGeom>
          <a:ln w="15240">
            <a:solidFill>
              <a:srgbClr val="4A6EA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55080" y="5349240"/>
            <a:ext cx="5486400" cy="41148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F4E79"/>
                </a:solidFill>
                <a:latin typeface="Calibri"/>
              </a:rPr>
              <a:t>Output:   1. A  →  2. B  →  3. C  →  4. D  →  5. 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Validator at work — a sample story walks through the checks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5606E"/>
                </a:solidFill>
                <a:latin typeface="Calibri"/>
              </a:rPr>
              <a:t>Each check is explicit. Failure on attempt 1; pass on revise (attempt 2).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417320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A84A4A"/>
                </a:solidFill>
                <a:latin typeface="Calibri"/>
              </a:rPr>
              <a:t>ATTEMPT 1   ✗   draft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828800"/>
            <a:ext cx="5638647" cy="16002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(draft):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received, system MUST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validate appropriately"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52044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1304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tests, persona, stage all in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0565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declared 'capability' matches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9826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A84A4A"/>
                </a:solidFill>
                <a:latin typeface="Calibri"/>
              </a:rPr>
              <a:t>✗    3. Shape rubric  —  capability:no_ambiguous_quantifiers fails on 'appropriately'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782312"/>
            <a:ext cx="5638647" cy="36576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A84A4A"/>
                </a:solidFill>
                <a:latin typeface="Calibri"/>
              </a:rPr>
              <a:t>→ Revise  (attempt 1 of 2)  —  Story Extractor reworks the AC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7287" y="1417320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C8347"/>
                </a:solidFill>
                <a:latin typeface="Calibri"/>
              </a:rPr>
              <a:t>ATTEMPT 2   ✓   revised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287" y="1828800"/>
            <a:ext cx="5638647" cy="1600200"/>
          </a:xfrm>
          <a:prstGeom prst="rect">
            <a:avLst/>
          </a:prstGeom>
          <a:solidFill>
            <a:srgbClr val="F6F6F6"/>
          </a:solidFill>
          <a:ln w="9525">
            <a:solidFill>
              <a:srgbClr val="C0C8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rIns="109728" tIns="73152" bIns="73152"/>
          <a:lstStyle/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story (revised):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shape:   capability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title:   "Validate accession against open order"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persona: lims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tests:   [gram_stain]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stage:   accessioning_verification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AC: "When specimen received with accession,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system MUST match against open order;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if no match within 24h, MUST flag for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     accessioning review"</a:t>
            </a:r>
          </a:p>
          <a:p>
            <a:pPr algn="l">
              <a:spcAft>
                <a:spcPts val="0"/>
              </a:spcAft>
            </a:pPr>
            <a:r>
              <a:rPr sz="850">
                <a:solidFill>
                  <a:srgbClr val="1F2D3D"/>
                </a:solidFill>
                <a:latin typeface="Consolas"/>
              </a:rPr>
              <a:t>  source:  SOP-MICRO-014, lines 23-31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3520440"/>
            <a:ext cx="5547207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1F4E79"/>
                </a:solidFill>
                <a:latin typeface="Calibri"/>
              </a:rPr>
              <a:t>Validator checks: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3813048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1. Closed-enum check  —  passes (unchanged)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7" y="4105656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C8347"/>
                </a:solidFill>
                <a:latin typeface="Calibri"/>
              </a:rPr>
              <a:t>✓    2. Shape verification  — 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4398264"/>
            <a:ext cx="5455767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5C8347"/>
                </a:solidFill>
                <a:latin typeface="Calibri"/>
              </a:rPr>
              <a:t>✓    3. Shape rubric  —  concrete, observable, parameterized (24h)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7" y="4782312"/>
            <a:ext cx="5638647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C8347"/>
                </a:solidFill>
                <a:latin typeface="Calibri"/>
              </a:rPr>
              <a:t>→ Story kept (validated)  →  Output 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285232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Note:  closed-enum violations (e.g. invalid persona name) hard-reject without entering the revise loop. Only shape/AC issues consume revision attempts. Failures after 2 revisions auto-park to the review pile (see slide 11).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happens when something fails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1F2D3D"/>
                </a:solidFill>
                <a:latin typeface="Calibri"/>
              </a:rPr>
              <a:t>Failures at three levels — each has a deterministic fallback. No human intervention is required at runtime.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6275" y="1554480"/>
            <a:ext cx="3703320" cy="45720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6275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(LLM error or timeout)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275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An agent's LLM call returns an error or times out.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Retry with exponential backoff (3 attempts).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Defer the item to the next batch; log the failure to the audit trail.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Other items continue. No block.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554480"/>
            <a:ext cx="3703320" cy="457200"/>
          </a:xfrm>
          <a:prstGeom prst="roundRect">
            <a:avLst/>
          </a:prstGeom>
          <a:solidFill>
            <a:srgbClr val="ECF4E8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44187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(quality check fails)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4187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Validator rejects a story.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Up to 2 revision attempts; the Validator drives revisions with the failed-checks list.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persistent: </a:t>
            </a:r>
            <a:r>
              <a:rPr sz="1000">
                <a:solidFill>
                  <a:srgbClr val="1F2D3D"/>
                </a:solidFill>
                <a:latin typeface="Calibri"/>
              </a:rPr>
              <a:t>Auto-park to the review pile. Story does not reach Output A in strict mode.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Subsequent stories continue. No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2099" y="1554480"/>
            <a:ext cx="3703320" cy="457200"/>
          </a:xfrm>
          <a:prstGeom prst="roundRect">
            <a:avLst/>
          </a:prstGeom>
          <a:solidFill>
            <a:srgbClr val="F8E3E3"/>
          </a:solidFill>
          <a:ln w="12700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F4E79"/>
                </a:solidFill>
                <a:latin typeface="Calibri"/>
              </a:rPr>
              <a:t>Per-batch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2099" y="2057400"/>
            <a:ext cx="37033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55606E"/>
                </a:solidFill>
                <a:latin typeface="Calibri"/>
              </a:rPr>
              <a:t>(drift / catalog issues)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12099" y="2331720"/>
            <a:ext cx="3703320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A84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Trigger: </a:t>
            </a:r>
            <a:r>
              <a:rPr sz="1000">
                <a:solidFill>
                  <a:srgbClr val="1F2D3D"/>
                </a:solidFill>
                <a:latin typeface="Calibri"/>
              </a:rPr>
              <a:t>G0 / E0 bucket &gt; 5% rolling, or auto-park rate &gt; 15% sustained.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Fallback: </a:t>
            </a:r>
            <a:r>
              <a:rPr sz="1000">
                <a:solidFill>
                  <a:srgbClr val="1F2D3D"/>
                </a:solidFill>
                <a:latin typeface="Calibri"/>
              </a:rPr>
              <a:t>Auto-rerun discovery with τ_match −0.05 (more permissive); re-cluster G0; quorum re-evaluates.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If τ_match floor (0.50) hit: </a:t>
            </a:r>
            <a:r>
              <a:rPr sz="1000">
                <a:solidFill>
                  <a:srgbClr val="1F2D3D"/>
                </a:solidFill>
                <a:latin typeface="Calibri"/>
              </a:rPr>
              <a:t>Drift report flags the discipline for manual catalog re-curation (one-time architect action).</a:t>
            </a:r>
          </a:p>
          <a:p>
            <a:pPr algn="l">
              <a:spcAft>
                <a:spcPts val="600"/>
              </a:spcAft>
            </a:pPr>
            <a:r>
              <a:rPr sz="1000" b="1">
                <a:solidFill>
                  <a:srgbClr val="1F4E79"/>
                </a:solidFill>
                <a:latin typeface="Calibri"/>
              </a:rPr>
              <a:t>Pipeline impact: </a:t>
            </a:r>
            <a:r>
              <a:rPr sz="1000">
                <a:solidFill>
                  <a:srgbClr val="1F2D3D"/>
                </a:solidFill>
                <a:latin typeface="Calibri"/>
              </a:rPr>
              <a:t>Pipeline continues. The drift report is informational.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Three queues collect different kinds of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6275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Review pile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Quality / rubric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Stories that failed Validator after 2 revisions.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44187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G0 / E0 buckets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Classification failures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Chunks (G0) and draft epics (E0) that didn't classify or cluster.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2099" y="5532120"/>
            <a:ext cx="3703320" cy="914399"/>
          </a:xfrm>
          <a:prstGeom prst="roundRect">
            <a:avLst/>
          </a:prstGeom>
          <a:solidFill>
            <a:srgbClr val="F1F5FA"/>
          </a:solidFill>
          <a:ln w="9525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/>
            <a:r>
              <a:rPr sz="1200" b="1">
                <a:solidFill>
                  <a:srgbClr val="1F4E79"/>
                </a:solidFill>
                <a:latin typeface="Calibri"/>
              </a:rPr>
              <a:t>Audit trail</a:t>
            </a:r>
          </a:p>
          <a:p>
            <a:pPr algn="l"/>
            <a:r>
              <a:rPr sz="1000" i="1">
                <a:solidFill>
                  <a:srgbClr val="55606E"/>
                </a:solidFill>
                <a:latin typeface="Calibri"/>
              </a:rPr>
              <a:t>Call-level errors</a:t>
            </a:r>
          </a:p>
          <a:p>
            <a:pPr algn="l"/>
            <a:r>
              <a:rPr sz="1000">
                <a:solidFill>
                  <a:srgbClr val="1F2D3D"/>
                </a:solidFill>
                <a:latin typeface="Calibri"/>
              </a:rPr>
              <a:t>LLM-call failures after retry exhaustion. For diagnostics.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1F4E79"/>
                </a:solidFill>
                <a:latin typeface="Calibri"/>
              </a:rPr>
              <a:t>What ships and the alignment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68680"/>
            <a:ext cx="1463040" cy="54864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3512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Jira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Epics + Stories
Ready for the dev team
Includes traceability to source SOPs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6704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Configuration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6704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Per-test settings
(e.g. blood culture parameters)
Deterministic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98967" y="1188720"/>
            <a:ext cx="3657600" cy="50292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F2D3D"/>
                </a:solidFill>
                <a:latin typeface="Calibri"/>
              </a:rPr>
              <a:t>Reference +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8198967" y="1691640"/>
            <a:ext cx="3657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0" i="0">
                <a:solidFill>
                  <a:srgbClr val="1F2D3D"/>
                </a:solidFill>
                <a:latin typeface="Calibri"/>
              </a:rPr>
              <a:t>Theme catalog, epic catalog
Cross-discipline mapping
Review pile + decision 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9748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F4E79"/>
                </a:solidFill>
                <a:latin typeface="Calibri"/>
              </a:rPr>
              <a:t>Inputs to the system  —  what's already captured vs what's still needed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063240"/>
            <a:ext cx="3710330" cy="365760"/>
          </a:xfrm>
          <a:prstGeom prst="roundRect">
            <a:avLst/>
          </a:prstGeom>
          <a:solidFill>
            <a:srgbClr val="DCE9D7"/>
          </a:solidFill>
          <a:ln w="12700">
            <a:solidFill>
              <a:srgbClr val="5C8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5C8347"/>
                </a:solidFill>
                <a:latin typeface="Calibri"/>
              </a:rPr>
              <a:t>Already captured 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from your project documentation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Persona inventory  —  documented in your Roles &amp; Process Map (we'll structure it into micro_persona_v1.yaml)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Universal 6-stage enum  —  derived from the Process Map (one-time, universal)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ANALOGY persona_links  —  from the cross-discipline role inventory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40682" y="3063240"/>
            <a:ext cx="3710330" cy="365760"/>
          </a:xfrm>
          <a:prstGeom prst="roundRect">
            <a:avLst/>
          </a:prstGeom>
          <a:solidFill>
            <a:srgbClr val="E7EFF8"/>
          </a:solidFill>
          <a:ln w="12700">
            <a:solidFill>
              <a:srgbClr val="4A6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From the seminal prior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68114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snapshotted from Cytology's Connect 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Theme catalog  (cyto_v1)  —  used as the warm-start prior for Theme Discovery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Epic catalog  (cyto_epic_v1)  —  used by the conditioned Epic Extractor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3063240"/>
            <a:ext cx="3710330" cy="36576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Still needed from the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3036" y="3447288"/>
            <a:ext cx="365546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5606E"/>
                </a:solidFill>
                <a:latin typeface="Calibri"/>
              </a:rPr>
              <a:t>the only blocking inputs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7044" y="3721608"/>
            <a:ext cx="3527450" cy="1261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Test catalog  (micro_test_v1.yaml)  —  list of in-scope Microbiology tests (Gram stain, blood culture, MALDI mass-spec ID, AST antimicrobial susceptibility testing, …)</a:t>
            </a:r>
          </a:p>
          <a:p>
            <a:pPr algn="l">
              <a:spcAft>
                <a:spcPts val="300"/>
              </a:spcAft>
            </a:pPr>
            <a:r>
              <a:rPr sz="900">
                <a:solidFill>
                  <a:srgbClr val="1F2D3D"/>
                </a:solidFill>
                <a:latin typeface="Calibri"/>
              </a:rPr>
              <a:t>•  Sample SOPs  (~20 representative SOPs) to seed Phase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074920"/>
            <a:ext cx="11430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1">
                <a:solidFill>
                  <a:srgbClr val="55606E"/>
                </a:solidFill>
                <a:latin typeface="Calibri"/>
              </a:rPr>
              <a:t>Optional  —  quality enhancement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321808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5606E"/>
                </a:solidFill>
                <a:latin typeface="Calibri"/>
              </a:rPr>
              <a:t>•   Sanitized Cytology Jira export  —  improves story style fidelity at extraction time. The system runs without it.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69280"/>
            <a:ext cx="11475720" cy="502920"/>
          </a:xfrm>
          <a:prstGeom prst="roundRect">
            <a:avLst/>
          </a:prstGeom>
          <a:solidFill>
            <a:srgbClr val="FAE9CB"/>
          </a:solidFill>
          <a:ln w="12700">
            <a:solidFill>
              <a:srgbClr val="C99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Alignment ask:  the test catalog + sample SOPs are the gating inputs.  Everything else is in hand.  Confirm?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565392"/>
            <a:ext cx="11274552" cy="10972"/>
          </a:xfrm>
          <a:prstGeom prst="rect">
            <a:avLst/>
          </a:prstGeom>
          <a:solidFill>
            <a:srgbClr val="D0D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601968"/>
            <a:ext cx="7315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i="1">
                <a:solidFill>
                  <a:srgbClr val="90979F"/>
                </a:solidFill>
                <a:latin typeface="Calibri"/>
              </a:rPr>
              <a:t>LIMS Story Generation — Client Alignment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17352" y="6601968"/>
            <a:ext cx="914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800" b="0" i="0">
                <a:solidFill>
                  <a:srgbClr val="90979F"/>
                </a:solidFill>
                <a:latin typeface="Calibr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